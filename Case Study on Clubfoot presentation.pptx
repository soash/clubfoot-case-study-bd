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Poppins Light" charset="1" panose="02000000000000000000"/>
      <p:regular r:id="rId10"/>
    </p:embeddedFont>
    <p:embeddedFont>
      <p:font typeface="Poppins Light Bold" charset="1" panose="02000000000000000000"/>
      <p:regular r:id="rId11"/>
    </p:embeddedFont>
    <p:embeddedFont>
      <p:font typeface="Poppins Medium" charset="1" panose="02000000000000000000"/>
      <p:regular r:id="rId12"/>
    </p:embeddedFont>
    <p:embeddedFont>
      <p:font typeface="Poppins Medium Bold" charset="1" panose="02000000000000000000"/>
      <p:regular r:id="rId13"/>
    </p:embeddedFont>
    <p:embeddedFont>
      <p:font typeface="Poppins Bold" charset="1" panose="02000000000000000000"/>
      <p:regular r:id="rId14"/>
    </p:embeddedFon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Canva Sans Bold Italics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slides/slide1.xml" Type="http://schemas.openxmlformats.org/officeDocument/2006/relationships/slide"/><Relationship Id="rId2" Target="presProps.xml" Type="http://schemas.openxmlformats.org/officeDocument/2006/relationships/presProps"/><Relationship Id="rId20" Target="slides/slide2.xml" Type="http://schemas.openxmlformats.org/officeDocument/2006/relationships/slide"/><Relationship Id="rId21" Target="slides/slide3.xml" Type="http://schemas.openxmlformats.org/officeDocument/2006/relationships/slide"/><Relationship Id="rId22" Target="slides/slide4.xml" Type="http://schemas.openxmlformats.org/officeDocument/2006/relationships/slide"/><Relationship Id="rId23" Target="slides/slide5.xml" Type="http://schemas.openxmlformats.org/officeDocument/2006/relationships/slide"/><Relationship Id="rId24" Target="slides/slide6.xml" Type="http://schemas.openxmlformats.org/officeDocument/2006/relationships/slide"/><Relationship Id="rId25" Target="slides/slide7.xml" Type="http://schemas.openxmlformats.org/officeDocument/2006/relationships/slide"/><Relationship Id="rId26" Target="slides/slide8.xml" Type="http://schemas.openxmlformats.org/officeDocument/2006/relationships/slide"/><Relationship Id="rId27" Target="slides/slide9.xml" Type="http://schemas.openxmlformats.org/officeDocument/2006/relationships/slide"/><Relationship Id="rId28" Target="slides/slide10.xml" Type="http://schemas.openxmlformats.org/officeDocument/2006/relationships/slide"/><Relationship Id="rId29" Target="slides/slide11.xml" Type="http://schemas.openxmlformats.org/officeDocument/2006/relationships/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slides/slide13.xml" Type="http://schemas.openxmlformats.org/officeDocument/2006/relationships/slide"/><Relationship Id="rId32" Target="slides/slide14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VAEgrqVJdNs.mp4" Type="http://schemas.openxmlformats.org/officeDocument/2006/relationships/video"/><Relationship Id="rId4" Target="../media/VAEgrqVJdNs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3" id="3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773722" y="8826675"/>
            <a:ext cx="485578" cy="431625"/>
            <a:chOff x="0" y="0"/>
            <a:chExt cx="647437" cy="575500"/>
          </a:xfrm>
        </p:grpSpPr>
        <p:sp>
          <p:nvSpPr>
            <p:cNvPr name="AutoShape 6" id="6"/>
            <p:cNvSpPr/>
            <p:nvPr/>
          </p:nvSpPr>
          <p:spPr>
            <a:xfrm rot="0"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name="Freeform 8" id="8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r="r" b="b" t="t" l="l"/>
                <a:pathLst>
                  <a:path h="434340" w="959235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t="0" r="41639" b="4070"/>
          <a:stretch>
            <a:fillRect/>
          </a:stretch>
        </p:blipFill>
        <p:spPr>
          <a:xfrm flipH="false" flipV="false" rot="0">
            <a:off x="1028700" y="304137"/>
            <a:ext cx="8400406" cy="9678726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6057900" y="6108700"/>
            <a:ext cx="3086100" cy="901700"/>
            <a:chOff x="0" y="0"/>
            <a:chExt cx="812800" cy="237485"/>
          </a:xfrm>
        </p:grpSpPr>
        <p:sp>
          <p:nvSpPr>
            <p:cNvPr name="Freeform 11" id="11"/>
            <p:cNvSpPr/>
            <p:nvPr/>
          </p:nvSpPr>
          <p:spPr>
            <a:xfrm>
              <a:off x="0" y="0"/>
              <a:ext cx="812800" cy="237485"/>
            </a:xfrm>
            <a:custGeom>
              <a:avLst/>
              <a:gdLst/>
              <a:ahLst/>
              <a:cxnLst/>
              <a:rect r="r" b="b" t="t" l="l"/>
              <a:pathLst>
                <a:path h="2374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37485"/>
                  </a:lnTo>
                  <a:lnTo>
                    <a:pt x="0" y="237485"/>
                  </a:lnTo>
                  <a:close/>
                </a:path>
              </a:pathLst>
            </a:custGeom>
            <a:solidFill>
              <a:srgbClr val="FDFC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37246" y="1918828"/>
            <a:ext cx="7531779" cy="6288190"/>
            <a:chOff x="0" y="0"/>
            <a:chExt cx="10042372" cy="8384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4300"/>
              <a:ext cx="10042372" cy="7062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750"/>
                </a:lnSpc>
              </a:pPr>
              <a:r>
                <a:rPr lang="en-US" sz="12499" spc="-124">
                  <a:solidFill>
                    <a:srgbClr val="141414"/>
                  </a:solidFill>
                  <a:latin typeface="Poppins Bold Bold"/>
                </a:rPr>
                <a:t>Case Study on</a:t>
              </a:r>
            </a:p>
            <a:p>
              <a:pPr algn="r">
                <a:lnSpc>
                  <a:spcPts val="13750"/>
                </a:lnSpc>
              </a:pPr>
              <a:r>
                <a:rPr lang="en-US" sz="12499" spc="-124">
                  <a:solidFill>
                    <a:srgbClr val="DD211D"/>
                  </a:solidFill>
                  <a:latin typeface="Poppins Bold Bold"/>
                </a:rPr>
                <a:t>Clubfoot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013842" y="7675858"/>
              <a:ext cx="9028530" cy="708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479"/>
                </a:lnSpc>
              </a:pPr>
              <a:r>
                <a:rPr lang="en-US" sz="3199">
                  <a:solidFill>
                    <a:srgbClr val="141414"/>
                  </a:solidFill>
                  <a:latin typeface="Poppins Light"/>
                </a:rPr>
                <a:t>A congenital deformity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3" id="3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773722" y="8826675"/>
            <a:ext cx="485578" cy="431625"/>
            <a:chOff x="0" y="0"/>
            <a:chExt cx="647437" cy="575500"/>
          </a:xfrm>
        </p:grpSpPr>
        <p:sp>
          <p:nvSpPr>
            <p:cNvPr name="AutoShape 6" id="6"/>
            <p:cNvSpPr/>
            <p:nvPr/>
          </p:nvSpPr>
          <p:spPr>
            <a:xfrm rot="0"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name="Freeform 8" id="8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r="r" b="b" t="t" l="l"/>
                <a:pathLst>
                  <a:path h="434340" w="959235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1397000" y="0"/>
            <a:ext cx="6616700" cy="10287000"/>
            <a:chOff x="0" y="0"/>
            <a:chExt cx="1742670" cy="2709333"/>
          </a:xfrm>
        </p:grpSpPr>
        <p:sp>
          <p:nvSpPr>
            <p:cNvPr name="Freeform 10" id="10"/>
            <p:cNvSpPr/>
            <p:nvPr/>
          </p:nvSpPr>
          <p:spPr>
            <a:xfrm>
              <a:off x="0" y="0"/>
              <a:ext cx="17426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2670">
                  <a:moveTo>
                    <a:pt x="0" y="0"/>
                  </a:moveTo>
                  <a:lnTo>
                    <a:pt x="1742670" y="0"/>
                  </a:lnTo>
                  <a:lnTo>
                    <a:pt x="174267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3D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28317" y="2968550"/>
            <a:ext cx="5955109" cy="410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Md Nehamul Islam Nehad</a:t>
            </a:r>
          </a:p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Sunayda Jahan Sruty</a:t>
            </a:r>
          </a:p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Ridoy Chandra Roy</a:t>
            </a:r>
          </a:p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Md Abu Sadat Soash</a:t>
            </a:r>
          </a:p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Shatabdi Roy</a:t>
            </a:r>
          </a:p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Alvee Alam</a:t>
            </a:r>
          </a:p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Jahidul Islam Shovo</a:t>
            </a:r>
          </a:p>
          <a:p>
            <a:pPr>
              <a:lnSpc>
                <a:spcPts val="3601"/>
              </a:lnSpc>
            </a:pPr>
            <a:r>
              <a:rPr lang="en-US" sz="2400">
                <a:solidFill>
                  <a:srgbClr val="141414"/>
                </a:solidFill>
                <a:latin typeface="Poppins Light"/>
              </a:rPr>
              <a:t>- Shadman Mutassim Efad</a:t>
            </a:r>
          </a:p>
          <a:p>
            <a:pPr>
              <a:lnSpc>
                <a:spcPts val="360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094377" y="1959421"/>
            <a:ext cx="6289049" cy="108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642"/>
              </a:lnSpc>
            </a:pPr>
            <a:r>
              <a:rPr lang="en-US" sz="7202">
                <a:solidFill>
                  <a:srgbClr val="141414"/>
                </a:solidFill>
                <a:latin typeface="Poppins Bold Bold"/>
              </a:rPr>
              <a:t>Our </a:t>
            </a:r>
            <a:r>
              <a:rPr lang="en-US" sz="7202">
                <a:solidFill>
                  <a:srgbClr val="DD211D"/>
                </a:solidFill>
                <a:latin typeface="Poppins Bold Bold"/>
              </a:rPr>
              <a:t>Team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88321" y="2003618"/>
            <a:ext cx="6828190" cy="6279765"/>
            <a:chOff x="0" y="0"/>
            <a:chExt cx="9104253" cy="83730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4" y="-66675"/>
              <a:ext cx="9104249" cy="762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817"/>
                </a:lnSpc>
              </a:pPr>
              <a:r>
                <a:rPr lang="en-US" sz="3440">
                  <a:solidFill>
                    <a:srgbClr val="141414"/>
                  </a:solidFill>
                  <a:latin typeface="Poppins Bold Bold"/>
                </a:rPr>
                <a:t>List of key concepts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193217"/>
              <a:ext cx="9104249" cy="7179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What is clubfoot?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Causes of Clubfoot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Status of Clubfoot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How we conducted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Symptoms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Treartment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Ponseti method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Patients overview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C</a:t>
              </a: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urrent status in Bangladesh</a:t>
              </a:r>
            </a:p>
            <a:p>
              <a:pPr>
                <a:lnSpc>
                  <a:spcPts val="4279"/>
                </a:lnSpc>
              </a:pPr>
              <a:r>
                <a:rPr lang="en-US" sz="2852">
                  <a:solidFill>
                    <a:srgbClr val="141414"/>
                  </a:solidFill>
                  <a:latin typeface="Poppins Light"/>
                </a:rPr>
                <a:t>- To solve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3" id="3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773722" y="8826675"/>
            <a:ext cx="485578" cy="431625"/>
            <a:chOff x="0" y="0"/>
            <a:chExt cx="647437" cy="575500"/>
          </a:xfrm>
        </p:grpSpPr>
        <p:sp>
          <p:nvSpPr>
            <p:cNvPr name="AutoShape 6" id="6"/>
            <p:cNvSpPr/>
            <p:nvPr/>
          </p:nvSpPr>
          <p:spPr>
            <a:xfrm rot="0"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name="Freeform 8" id="8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r="r" b="b" t="t" l="l"/>
                <a:pathLst>
                  <a:path h="434340" w="959235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-1130300" y="2245995"/>
            <a:ext cx="10287000" cy="579501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8462240" y="2438673"/>
            <a:ext cx="8797060" cy="5248458"/>
            <a:chOff x="0" y="0"/>
            <a:chExt cx="11729414" cy="699794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0" y="0"/>
              <a:ext cx="11729404" cy="2893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640"/>
                </a:lnSpc>
              </a:pPr>
              <a:r>
                <a:rPr lang="en-US" sz="7200">
                  <a:solidFill>
                    <a:srgbClr val="141414"/>
                  </a:solidFill>
                  <a:latin typeface="Poppins Bold Bold"/>
                </a:rPr>
                <a:t>What is </a:t>
              </a:r>
            </a:p>
            <a:p>
              <a:pPr>
                <a:lnSpc>
                  <a:spcPts val="8640"/>
                </a:lnSpc>
              </a:pPr>
              <a:r>
                <a:rPr lang="en-US" sz="7200">
                  <a:solidFill>
                    <a:srgbClr val="DD211D"/>
                  </a:solidFill>
                  <a:latin typeface="Poppins Bold Bold"/>
                </a:rPr>
                <a:t>Clubfoot</a:t>
              </a:r>
              <a:r>
                <a:rPr lang="en-US" sz="7200">
                  <a:solidFill>
                    <a:srgbClr val="141414"/>
                  </a:solidFill>
                  <a:latin typeface="Poppins Bold Bold"/>
                </a:rPr>
                <a:t>?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332447"/>
              <a:ext cx="9595370" cy="661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>
                  <a:solidFill>
                    <a:srgbClr val="141414"/>
                  </a:solidFill>
                  <a:latin typeface="Poppins Bold Bold"/>
                </a:rPr>
                <a:t>A</a:t>
              </a:r>
              <a:r>
                <a:rPr lang="en-US" sz="3000">
                  <a:solidFill>
                    <a:srgbClr val="141414"/>
                  </a:solidFill>
                  <a:latin typeface="Poppins Bold Bold"/>
                </a:rPr>
                <a:t> congenital deformity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605265"/>
              <a:ext cx="9595370" cy="2392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US" sz="2400">
                  <a:solidFill>
                    <a:srgbClr val="141414"/>
                  </a:solidFill>
                  <a:latin typeface="Poppins Light"/>
                </a:rPr>
                <a:t>that affects the feet, typically characterised by a medial deviation of the heel, a lateral deviation of the forefoot, and an inverted position of the ankle.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028700" cy="10287000"/>
          </a:xfrm>
          <a:prstGeom prst="rect">
            <a:avLst/>
          </a:prstGeom>
          <a:solidFill>
            <a:srgbClr val="FDFCF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1176000" y="751848"/>
            <a:ext cx="5417270" cy="874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98"/>
              </a:lnSpc>
            </a:pPr>
            <a:r>
              <a:rPr lang="en-US" sz="3152" spc="31">
                <a:solidFill>
                  <a:srgbClr val="141414"/>
                </a:solidFill>
                <a:latin typeface="Poppins Light Italics"/>
              </a:rPr>
              <a:t>The condition can be caused by a combination of genetics and environmental factors. </a:t>
            </a: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</a:p>
          <a:p>
            <a:pPr>
              <a:lnSpc>
                <a:spcPts val="4098"/>
              </a:lnSpc>
            </a:pPr>
            <a:r>
              <a:rPr lang="en-US" sz="3152" spc="31">
                <a:solidFill>
                  <a:srgbClr val="141414"/>
                </a:solidFill>
                <a:latin typeface="Poppins Light Italics"/>
              </a:rPr>
              <a:t>A</a:t>
            </a:r>
            <a:r>
              <a:rPr lang="en-US" sz="3152" spc="31">
                <a:solidFill>
                  <a:srgbClr val="141414"/>
                </a:solidFill>
                <a:latin typeface="Poppins Light Italics"/>
              </a:rPr>
              <a:t>bnormalities are caused by deletions and duplications of the chromosome 17q23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5" id="5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400000">
            <a:off x="30839" y="1028700"/>
            <a:ext cx="10972800" cy="8229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176000" y="3137894"/>
            <a:ext cx="5600361" cy="495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50"/>
              </a:lnSpc>
            </a:pPr>
            <a:r>
              <a:rPr lang="en-US" sz="3291">
                <a:solidFill>
                  <a:srgbClr val="DD211D"/>
                </a:solidFill>
                <a:latin typeface="Poppins Bold Bold"/>
              </a:rPr>
              <a:t>Chromosomal abnormalities have been found in 30% of complex clubfoot cases and 2% of isolated clubfoot cases, including trisomy 18, 13, 21, sex chromosome</a:t>
            </a:r>
          </a:p>
          <a:p>
            <a:pPr>
              <a:lnSpc>
                <a:spcPts val="3950"/>
              </a:lnSpc>
            </a:pPr>
          </a:p>
          <a:p>
            <a:pPr>
              <a:lnSpc>
                <a:spcPts val="39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13611" r="0" b="1361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619100" y="6042715"/>
            <a:ext cx="13640200" cy="3215585"/>
            <a:chOff x="0" y="0"/>
            <a:chExt cx="18186933" cy="42874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33350"/>
              <a:ext cx="18186933" cy="2790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840"/>
                </a:lnSpc>
              </a:pPr>
              <a:r>
                <a:rPr lang="en-US" sz="14400" spc="-144">
                  <a:solidFill>
                    <a:srgbClr val="DD211D"/>
                  </a:solidFill>
                  <a:latin typeface="Poppins Bold Bold"/>
                </a:rPr>
                <a:t>5000</a:t>
              </a:r>
              <a:r>
                <a:rPr lang="en-US" sz="14400" spc="-144">
                  <a:solidFill>
                    <a:srgbClr val="141414"/>
                  </a:solidFill>
                  <a:latin typeface="Poppins Bold Bold"/>
                </a:rPr>
                <a:t> Children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003744" y="3450939"/>
              <a:ext cx="15183190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319"/>
                </a:lnSpc>
              </a:pPr>
              <a:r>
                <a:rPr lang="en-US" sz="3799">
                  <a:solidFill>
                    <a:srgbClr val="141414"/>
                  </a:solidFill>
                  <a:latin typeface="Poppins Light"/>
                </a:rPr>
                <a:t>are born with club foot each year in Bangladesh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7" id="7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13640200" cy="3215585"/>
            <a:chOff x="0" y="0"/>
            <a:chExt cx="18186933" cy="42874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3350"/>
              <a:ext cx="18186933" cy="2790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840"/>
                </a:lnSpc>
              </a:pPr>
              <a:r>
                <a:rPr lang="en-US" sz="14400" spc="-144">
                  <a:solidFill>
                    <a:srgbClr val="DD211D"/>
                  </a:solidFill>
                  <a:latin typeface="Poppins Bold Bold"/>
                </a:rPr>
                <a:t>1</a:t>
              </a:r>
              <a:r>
                <a:rPr lang="en-US" sz="14400" spc="-144">
                  <a:solidFill>
                    <a:srgbClr val="141414"/>
                  </a:solidFill>
                  <a:latin typeface="Poppins Bold Bold"/>
                </a:rPr>
                <a:t> in </a:t>
              </a:r>
              <a:r>
                <a:rPr lang="en-US" sz="14400" spc="-144">
                  <a:solidFill>
                    <a:srgbClr val="DD211D"/>
                  </a:solidFill>
                  <a:latin typeface="Poppins Bold Bold"/>
                </a:rPr>
                <a:t>1000</a:t>
              </a:r>
              <a:r>
                <a:rPr lang="en-US" sz="14400" spc="-144">
                  <a:solidFill>
                    <a:srgbClr val="141414"/>
                  </a:solidFill>
                  <a:latin typeface="Poppins Bold Bold"/>
                </a:rPr>
                <a:t>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003744" y="3450939"/>
              <a:ext cx="15183190" cy="83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19"/>
                </a:lnSpc>
              </a:pPr>
              <a:r>
                <a:rPr lang="en-US" sz="3799">
                  <a:solidFill>
                    <a:srgbClr val="141414"/>
                  </a:solidFill>
                  <a:latin typeface="Poppins Light"/>
                </a:rPr>
                <a:t>newborns are affected worldwide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4863" y="4123035"/>
            <a:ext cx="10985471" cy="293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141414"/>
                </a:solidFill>
                <a:latin typeface="Poppins Light"/>
              </a:rPr>
              <a:t>We visited</a:t>
            </a:r>
            <a:r>
              <a:rPr lang="en-US" sz="2999">
                <a:solidFill>
                  <a:srgbClr val="141414"/>
                </a:solidFill>
                <a:latin typeface="Poppins Light"/>
              </a:rPr>
              <a:t> a number of hospitals across Bangladesh</a:t>
            </a:r>
          </a:p>
          <a:p>
            <a:pPr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141414"/>
                </a:solidFill>
                <a:latin typeface="Poppins Light"/>
              </a:rPr>
              <a:t>We also conducted door-to-door interviews</a:t>
            </a:r>
          </a:p>
          <a:p>
            <a:pPr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141414"/>
                </a:solidFill>
                <a:latin typeface="Poppins Light"/>
              </a:rPr>
              <a:t>We made a special form to collect information</a:t>
            </a:r>
          </a:p>
          <a:p>
            <a:pPr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141414"/>
                </a:solidFill>
                <a:latin typeface="Poppins Light"/>
              </a:rPr>
              <a:t>We communicated with some private organizations</a:t>
            </a:r>
          </a:p>
          <a:p>
            <a:pPr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141414"/>
                </a:solidFill>
                <a:latin typeface="Poppins Light"/>
              </a:rPr>
              <a:t>We collected information from different websites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0325" y="1028700"/>
            <a:ext cx="14002146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640"/>
              </a:lnSpc>
            </a:pPr>
            <a:r>
              <a:rPr lang="en-US" sz="7200">
                <a:solidFill>
                  <a:srgbClr val="141414"/>
                </a:solidFill>
                <a:latin typeface="Poppins Bold Bold"/>
              </a:rPr>
              <a:t>How we conducted </a:t>
            </a:r>
          </a:p>
          <a:p>
            <a:pPr>
              <a:lnSpc>
                <a:spcPts val="8640"/>
              </a:lnSpc>
            </a:pPr>
            <a:r>
              <a:rPr lang="en-US" sz="7200">
                <a:solidFill>
                  <a:srgbClr val="141414"/>
                </a:solidFill>
                <a:latin typeface="Poppins Bold Bold"/>
              </a:rPr>
              <a:t>the</a:t>
            </a:r>
            <a:r>
              <a:rPr lang="en-US" sz="7200">
                <a:solidFill>
                  <a:srgbClr val="DD211D"/>
                </a:solidFill>
                <a:latin typeface="Poppins Bold Bold"/>
              </a:rPr>
              <a:t> case study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5" id="5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73722" y="8826675"/>
            <a:ext cx="485578" cy="431625"/>
            <a:chOff x="0" y="0"/>
            <a:chExt cx="647437" cy="575500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name="Freeform 10" id="10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r="r" b="b" t="t" l="l"/>
                <a:pathLst>
                  <a:path h="434340" w="959235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028700" cy="10287000"/>
          </a:xfrm>
          <a:prstGeom prst="rect">
            <a:avLst/>
          </a:prstGeom>
          <a:solidFill>
            <a:srgbClr val="FDFCFC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4" id="4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5" id="5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12991" y="4058543"/>
            <a:ext cx="8797053" cy="216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640"/>
              </a:lnSpc>
            </a:pPr>
            <a:r>
              <a:rPr lang="en-US" sz="7200">
                <a:solidFill>
                  <a:srgbClr val="141414"/>
                </a:solidFill>
                <a:latin typeface="Poppins Bold Bold"/>
              </a:rPr>
              <a:t>What we </a:t>
            </a:r>
          </a:p>
          <a:p>
            <a:pPr>
              <a:lnSpc>
                <a:spcPts val="8640"/>
              </a:lnSpc>
            </a:pPr>
            <a:r>
              <a:rPr lang="en-US" sz="7200">
                <a:solidFill>
                  <a:srgbClr val="DD211D"/>
                </a:solidFill>
                <a:latin typeface="Poppins Bold Bold"/>
              </a:rPr>
              <a:t>Found</a:t>
            </a:r>
            <a:r>
              <a:rPr lang="en-US" sz="7200">
                <a:solidFill>
                  <a:srgbClr val="141414"/>
                </a:solidFill>
                <a:latin typeface="Poppins Bold Bold"/>
              </a:rPr>
              <a:t>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31941" y="1499616"/>
            <a:ext cx="557233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>
                <a:solidFill>
                  <a:srgbClr val="141414"/>
                </a:solidFill>
                <a:latin typeface="Poppins Light"/>
              </a:rPr>
              <a:t>Foot that turns inward and downward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31941" y="3804289"/>
            <a:ext cx="55723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>
                <a:solidFill>
                  <a:srgbClr val="141414"/>
                </a:solidFill>
                <a:latin typeface="Poppins Light Bold"/>
              </a:rPr>
              <a:t>Heel that points upward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31941" y="5842262"/>
            <a:ext cx="55723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>
                <a:solidFill>
                  <a:srgbClr val="141414"/>
                </a:solidFill>
                <a:latin typeface="Poppins Light Bold"/>
              </a:rPr>
              <a:t>Shortened Achilles tendon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1941" y="7880235"/>
            <a:ext cx="55723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>
                <a:solidFill>
                  <a:srgbClr val="141414"/>
                </a:solidFill>
                <a:latin typeface="Poppins Light"/>
              </a:rPr>
              <a:t>Difficulty moving the foot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62200" y="4366409"/>
            <a:ext cx="51248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240"/>
              </a:lnSpc>
            </a:pPr>
            <a:r>
              <a:rPr lang="en-US" sz="4800" spc="48">
                <a:solidFill>
                  <a:srgbClr val="141414"/>
                </a:solidFill>
                <a:latin typeface="Poppins Bold"/>
              </a:rPr>
              <a:t>Symptoms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8" id="8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9" id="9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8838750" y="1756341"/>
            <a:ext cx="610500" cy="61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8838750" y="3794314"/>
            <a:ext cx="610500" cy="61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8838750" y="5832287"/>
            <a:ext cx="610500" cy="61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8838750" y="7870260"/>
            <a:ext cx="610500" cy="61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9495" y="1936217"/>
            <a:ext cx="13069009" cy="1084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DD211D"/>
                </a:solidFill>
                <a:latin typeface="Poppins Bold Bold"/>
              </a:rPr>
              <a:t>Treatment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34916" y="3578465"/>
            <a:ext cx="5488835" cy="4711817"/>
            <a:chOff x="0" y="0"/>
            <a:chExt cx="7318446" cy="628242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6174859" y="4867849"/>
              <a:ext cx="1143587" cy="103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1"/>
                </a:lnSpc>
              </a:pPr>
              <a:r>
                <a:rPr lang="en-US" sz="2272">
                  <a:solidFill>
                    <a:srgbClr val="141414"/>
                  </a:solidFill>
                  <a:latin typeface="Poppins Medium"/>
                </a:rPr>
                <a:t>shoes</a:t>
              </a:r>
            </a:p>
            <a:p>
              <a:pPr algn="ctr">
                <a:lnSpc>
                  <a:spcPts val="3181"/>
                </a:lnSpc>
              </a:pPr>
              <a:r>
                <a:rPr lang="en-US" sz="2272">
                  <a:solidFill>
                    <a:srgbClr val="141414"/>
                  </a:solidFill>
                  <a:latin typeface="Poppins Medium"/>
                </a:rPr>
                <a:t>47.6%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2622"/>
              <a:ext cx="1083587" cy="103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1"/>
                </a:lnSpc>
              </a:pPr>
              <a:r>
                <a:rPr lang="en-US" sz="2272">
                  <a:solidFill>
                    <a:srgbClr val="141414"/>
                  </a:solidFill>
                  <a:latin typeface="Poppins Medium"/>
                </a:rPr>
                <a:t>cast</a:t>
              </a:r>
            </a:p>
            <a:p>
              <a:pPr algn="ctr">
                <a:lnSpc>
                  <a:spcPts val="3181"/>
                </a:lnSpc>
              </a:pPr>
              <a:r>
                <a:rPr lang="en-US" sz="2272">
                  <a:solidFill>
                    <a:srgbClr val="141414"/>
                  </a:solidFill>
                  <a:latin typeface="Poppins Medium"/>
                </a:rPr>
                <a:t>42.9%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084758" y="-38100"/>
              <a:ext cx="1472903" cy="103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1"/>
                </a:lnSpc>
              </a:pPr>
              <a:r>
                <a:rPr lang="en-US" sz="2272">
                  <a:solidFill>
                    <a:srgbClr val="141414"/>
                  </a:solidFill>
                  <a:latin typeface="Poppins Medium"/>
                </a:rPr>
                <a:t>surgery</a:t>
              </a:r>
            </a:p>
            <a:p>
              <a:pPr algn="ctr">
                <a:lnSpc>
                  <a:spcPts val="3181"/>
                </a:lnSpc>
              </a:pPr>
              <a:r>
                <a:rPr lang="en-US" sz="2272">
                  <a:solidFill>
                    <a:srgbClr val="141414"/>
                  </a:solidFill>
                  <a:latin typeface="Poppins Medium"/>
                </a:rPr>
                <a:t>9.5%</a:t>
              </a:r>
            </a:p>
          </p:txBody>
        </p:sp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1265354" y="1157632"/>
              <a:ext cx="5124790" cy="5124790"/>
              <a:chOff x="0" y="0"/>
              <a:chExt cx="2540000" cy="2540000"/>
            </a:xfrm>
          </p:grpSpPr>
          <p:sp>
            <p:nvSpPr>
              <p:cNvPr name="Freeform 8" id="8"/>
              <p:cNvSpPr/>
              <p:nvPr/>
            </p:nvSpPr>
            <p:spPr>
              <a:xfrm>
                <a:off x="1270000" y="0"/>
                <a:ext cx="766967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766967">
                    <a:moveTo>
                      <a:pt x="0" y="0"/>
                    </a:moveTo>
                    <a:lnTo>
                      <a:pt x="0" y="0"/>
                    </a:lnTo>
                    <a:cubicBezTo>
                      <a:pt x="276918" y="0"/>
                      <a:pt x="546248" y="90510"/>
                      <a:pt x="766967" y="257744"/>
                    </a:cubicBez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DD211D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>
                <a:off x="662469" y="220677"/>
                <a:ext cx="2044127" cy="2488359"/>
              </a:xfrm>
              <a:custGeom>
                <a:avLst/>
                <a:gdLst/>
                <a:ahLst/>
                <a:cxnLst/>
                <a:rect r="r" b="b" t="t" l="l"/>
                <a:pathLst>
                  <a:path h="2488359" w="2044127">
                    <a:moveTo>
                      <a:pt x="1322947" y="0"/>
                    </a:moveTo>
                    <a:cubicBezTo>
                      <a:pt x="1882169" y="381271"/>
                      <a:pt x="2044127" y="1134110"/>
                      <a:pt x="1691166" y="1711618"/>
                    </a:cubicBezTo>
                    <a:cubicBezTo>
                      <a:pt x="1338206" y="2289126"/>
                      <a:pt x="594361" y="2488359"/>
                      <a:pt x="0" y="2164583"/>
                    </a:cubicBezTo>
                    <a:lnTo>
                      <a:pt x="607531" y="1049323"/>
                    </a:ln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>
                <a:off x="-99987" y="0"/>
                <a:ext cx="1369987" cy="2414231"/>
              </a:xfrm>
              <a:custGeom>
                <a:avLst/>
                <a:gdLst/>
                <a:ahLst/>
                <a:cxnLst/>
                <a:rect r="r" b="b" t="t" l="l"/>
                <a:pathLst>
                  <a:path h="2414231" w="1369987">
                    <a:moveTo>
                      <a:pt x="818955" y="2414231"/>
                    </a:moveTo>
                    <a:cubicBezTo>
                      <a:pt x="285131" y="2157155"/>
                      <a:pt x="0" y="1565111"/>
                      <a:pt x="131814" y="987460"/>
                    </a:cubicBezTo>
                    <a:cubicBezTo>
                      <a:pt x="263629" y="409810"/>
                      <a:pt x="777361" y="59"/>
                      <a:pt x="1369860" y="0"/>
                    </a:cubicBezTo>
                    <a:lnTo>
                      <a:pt x="1369987" y="1270000"/>
                    </a:lnTo>
                    <a:close/>
                  </a:path>
                </a:pathLst>
              </a:custGeom>
              <a:solidFill>
                <a:srgbClr val="FF7FAC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>
                <a:off x="1270000" y="0"/>
                <a:ext cx="127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">
                    <a:moveTo>
                      <a:pt x="0" y="0"/>
                    </a:moveTo>
                    <a:cubicBezTo>
                      <a:pt x="42" y="0"/>
                      <a:pt x="85" y="0"/>
                      <a:pt x="127" y="0"/>
                    </a:cubicBez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FFAFDF"/>
              </a:solid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13" id="13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14" id="14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878211" y="4084974"/>
            <a:ext cx="8381089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Poppins Light Bold"/>
              </a:rPr>
              <a:t>We found that, surgery has been done for treatment for only two case and in the rest of the cases Ponseti method is used.</a:t>
            </a:r>
          </a:p>
          <a:p>
            <a:pPr algn="just">
              <a:lnSpc>
                <a:spcPts val="4800"/>
              </a:lnSpc>
            </a:pPr>
          </a:p>
          <a:p>
            <a:pPr algn="just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DD211D"/>
                </a:solidFill>
                <a:latin typeface="Poppins Light Bold"/>
              </a:rPr>
              <a:t>So far Ponseti method is most famous.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509133" y="934395"/>
            <a:ext cx="6750167" cy="832390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612221" y="1952252"/>
            <a:ext cx="7531779" cy="6288190"/>
            <a:chOff x="0" y="0"/>
            <a:chExt cx="10042372" cy="838425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300"/>
              <a:ext cx="10042372" cy="7062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750"/>
                </a:lnSpc>
              </a:pPr>
              <a:r>
                <a:rPr lang="en-US" sz="12499" spc="-124">
                  <a:solidFill>
                    <a:srgbClr val="141414"/>
                  </a:solidFill>
                  <a:latin typeface="Poppins Bold Bold"/>
                </a:rPr>
                <a:t>Ponseti Method</a:t>
              </a:r>
            </a:p>
            <a:p>
              <a:pPr algn="r">
                <a:lnSpc>
                  <a:spcPts val="1375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013842" y="7675858"/>
              <a:ext cx="9028530" cy="708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243549"/>
            <a:ext cx="7338303" cy="9715500"/>
          </a:xfrm>
          <a:prstGeom prst="rect">
            <a:avLst/>
          </a:prstGeom>
          <a:solidFill>
            <a:srgbClr val="DD211D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695352" y="1660962"/>
            <a:ext cx="5780769" cy="3932134"/>
            <a:chOff x="0" y="0"/>
            <a:chExt cx="7707692" cy="52428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3814247" y="-28575"/>
              <a:ext cx="526707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Age</a:t>
              </a:r>
            </a:p>
          </p:txBody>
        </p: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3588246" y="104859"/>
              <a:ext cx="113000" cy="113000"/>
              <a:chOff x="4083413" y="-598620"/>
              <a:chExt cx="152400" cy="152400"/>
            </a:xfrm>
          </p:grpSpPr>
          <p:sp>
            <p:nvSpPr>
              <p:cNvPr name="Freeform 6" id="6"/>
              <p:cNvSpPr/>
              <p:nvPr/>
            </p:nvSpPr>
            <p:spPr>
              <a:xfrm>
                <a:off x="4083413" y="-598620"/>
                <a:ext cx="1524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152400">
                    <a:moveTo>
                      <a:pt x="152400" y="139700"/>
                    </a:moveTo>
                    <a:lnTo>
                      <a:pt x="152400" y="12700"/>
                    </a:lnTo>
                    <a:cubicBezTo>
                      <a:pt x="152400" y="5686"/>
                      <a:pt x="146714" y="0"/>
                      <a:pt x="139700" y="0"/>
                    </a:cubicBezTo>
                    <a:lnTo>
                      <a:pt x="12700" y="0"/>
                    </a:lnTo>
                    <a:cubicBezTo>
                      <a:pt x="5686" y="0"/>
                      <a:pt x="0" y="5686"/>
                      <a:pt x="0" y="12700"/>
                    </a:cubicBezTo>
                    <a:lnTo>
                      <a:pt x="0" y="139700"/>
                    </a:lnTo>
                    <a:cubicBezTo>
                      <a:pt x="0" y="146714"/>
                      <a:pt x="5686" y="152400"/>
                      <a:pt x="12700" y="152400"/>
                    </a:cubicBezTo>
                    <a:lnTo>
                      <a:pt x="139700" y="152400"/>
                    </a:lnTo>
                    <a:cubicBezTo>
                      <a:pt x="146714" y="152400"/>
                      <a:pt x="152400" y="146714"/>
                      <a:pt x="152400" y="139700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744073" y="4891552"/>
              <a:ext cx="79571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152164" y="4891552"/>
              <a:ext cx="156788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98313" y="4891552"/>
              <a:ext cx="157887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3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039911" y="4891552"/>
              <a:ext cx="168088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4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485669" y="4891552"/>
              <a:ext cx="169971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5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930249" y="4891552"/>
              <a:ext cx="174209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6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388483" y="4891552"/>
              <a:ext cx="151138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7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25608" y="4891552"/>
              <a:ext cx="170285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8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271915" y="4891552"/>
              <a:ext cx="171070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9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679142" y="4891552"/>
              <a:ext cx="250013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171277" y="4891552"/>
              <a:ext cx="159142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579367" y="4891552"/>
              <a:ext cx="236359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025517" y="4891552"/>
              <a:ext cx="237458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467115" y="4891552"/>
              <a:ext cx="247659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12872" y="4891552"/>
              <a:ext cx="249542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15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357452" y="4891552"/>
              <a:ext cx="253780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16</a:t>
              </a:r>
            </a:p>
          </p:txBody>
        </p: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560509" y="548719"/>
              <a:ext cx="7147183" cy="4236534"/>
              <a:chOff x="0" y="0"/>
              <a:chExt cx="9639179" cy="5713679"/>
            </a:xfrm>
          </p:grpSpPr>
          <p:sp>
            <p:nvSpPr>
              <p:cNvPr name="Freeform 24" id="24"/>
              <p:cNvSpPr/>
              <p:nvPr/>
            </p:nvSpPr>
            <p:spPr>
              <a:xfrm>
                <a:off x="0" y="-6350"/>
                <a:ext cx="9639179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9639179">
                    <a:moveTo>
                      <a:pt x="0" y="0"/>
                    </a:moveTo>
                    <a:lnTo>
                      <a:pt x="9639179" y="0"/>
                    </a:lnTo>
                    <a:lnTo>
                      <a:pt x="9639179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141414">
                  <a:alpha val="24706"/>
                </a:srgbClr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>
                <a:off x="0" y="1898210"/>
                <a:ext cx="9639179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9639179">
                    <a:moveTo>
                      <a:pt x="0" y="0"/>
                    </a:moveTo>
                    <a:lnTo>
                      <a:pt x="9639179" y="0"/>
                    </a:lnTo>
                    <a:lnTo>
                      <a:pt x="9639179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141414">
                  <a:alpha val="24706"/>
                </a:srgbClr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>
                <a:off x="0" y="3802769"/>
                <a:ext cx="9639179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9639179">
                    <a:moveTo>
                      <a:pt x="0" y="0"/>
                    </a:moveTo>
                    <a:lnTo>
                      <a:pt x="9639179" y="0"/>
                    </a:lnTo>
                    <a:lnTo>
                      <a:pt x="9639179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141414">
                  <a:alpha val="24706"/>
                </a:srgbClr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>
                <a:off x="0" y="5707329"/>
                <a:ext cx="9639179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9639179">
                    <a:moveTo>
                      <a:pt x="0" y="0"/>
                    </a:moveTo>
                    <a:lnTo>
                      <a:pt x="9639179" y="0"/>
                    </a:lnTo>
                    <a:lnTo>
                      <a:pt x="9639179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141414">
                  <a:alpha val="60000"/>
                </a:srgbClr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358785"/>
              <a:ext cx="425635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60 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121" y="1770963"/>
              <a:ext cx="419514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40 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7421" y="3183140"/>
              <a:ext cx="408214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20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4209" y="4595318"/>
              <a:ext cx="251426" cy="351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30"/>
                </a:lnSpc>
              </a:pPr>
              <a:r>
                <a:rPr lang="en-US" sz="1593">
                  <a:solidFill>
                    <a:srgbClr val="141414"/>
                  </a:solidFill>
                  <a:latin typeface="Poppins Light"/>
                </a:rPr>
                <a:t>0 </a:t>
              </a:r>
            </a:p>
          </p:txBody>
        </p:sp>
        <p:grpSp>
          <p:nvGrpSpPr>
            <p:cNvPr name="Group 32" id="32"/>
            <p:cNvGrpSpPr>
              <a:grpSpLocks noChangeAspect="true"/>
            </p:cNvGrpSpPr>
            <p:nvPr/>
          </p:nvGrpSpPr>
          <p:grpSpPr>
            <a:xfrm rot="0">
              <a:off x="736775" y="854680"/>
              <a:ext cx="6794651" cy="3971584"/>
              <a:chOff x="237724" y="412640"/>
              <a:chExt cx="9163730" cy="5356349"/>
            </a:xfrm>
          </p:grpSpPr>
          <p:sp>
            <p:nvSpPr>
              <p:cNvPr name="Freeform 33" id="33"/>
              <p:cNvSpPr/>
              <p:nvPr/>
            </p:nvSpPr>
            <p:spPr>
              <a:xfrm>
                <a:off x="237724" y="5302156"/>
                <a:ext cx="696503" cy="189056"/>
              </a:xfrm>
              <a:custGeom>
                <a:avLst/>
                <a:gdLst/>
                <a:ahLst/>
                <a:cxnLst/>
                <a:rect r="r" b="b" t="t" l="l"/>
                <a:pathLst>
                  <a:path h="189056" w="696503">
                    <a:moveTo>
                      <a:pt x="127000" y="125839"/>
                    </a:moveTo>
                    <a:cubicBezTo>
                      <a:pt x="126844" y="90880"/>
                      <a:pt x="98460" y="62622"/>
                      <a:pt x="63500" y="62622"/>
                    </a:cubicBezTo>
                    <a:cubicBezTo>
                      <a:pt x="28541" y="62622"/>
                      <a:pt x="157" y="90880"/>
                      <a:pt x="0" y="125839"/>
                    </a:cubicBezTo>
                    <a:cubicBezTo>
                      <a:pt x="157" y="160798"/>
                      <a:pt x="28541" y="189056"/>
                      <a:pt x="63500" y="189056"/>
                    </a:cubicBezTo>
                    <a:cubicBezTo>
                      <a:pt x="98460" y="189056"/>
                      <a:pt x="126844" y="160798"/>
                      <a:pt x="127000" y="125839"/>
                    </a:cubicBezTo>
                    <a:close/>
                    <a:moveTo>
                      <a:pt x="59039" y="97614"/>
                    </a:moveTo>
                    <a:cubicBezTo>
                      <a:pt x="43511" y="100140"/>
                      <a:pt x="32946" y="114742"/>
                      <a:pt x="35402" y="130280"/>
                    </a:cubicBezTo>
                    <a:cubicBezTo>
                      <a:pt x="37858" y="145819"/>
                      <a:pt x="52412" y="156450"/>
                      <a:pt x="67962" y="154063"/>
                    </a:cubicBezTo>
                    <a:lnTo>
                      <a:pt x="670410" y="58835"/>
                    </a:lnTo>
                    <a:cubicBezTo>
                      <a:pt x="685938" y="56310"/>
                      <a:pt x="696504" y="41708"/>
                      <a:pt x="694048" y="26170"/>
                    </a:cubicBezTo>
                    <a:cubicBezTo>
                      <a:pt x="691591" y="10631"/>
                      <a:pt x="677037" y="0"/>
                      <a:pt x="661488" y="2386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>
                <a:off x="840173" y="5269550"/>
                <a:ext cx="698424" cy="464654"/>
              </a:xfrm>
              <a:custGeom>
                <a:avLst/>
                <a:gdLst/>
                <a:ahLst/>
                <a:cxnLst/>
                <a:rect r="r" b="b" t="t" l="l"/>
                <a:pathLst>
                  <a:path h="464654" w="698424">
                    <a:moveTo>
                      <a:pt x="127000" y="63217"/>
                    </a:moveTo>
                    <a:cubicBezTo>
                      <a:pt x="126844" y="28258"/>
                      <a:pt x="98460" y="0"/>
                      <a:pt x="63500" y="0"/>
                    </a:cubicBezTo>
                    <a:cubicBezTo>
                      <a:pt x="28540" y="0"/>
                      <a:pt x="156" y="28258"/>
                      <a:pt x="0" y="63217"/>
                    </a:cubicBezTo>
                    <a:cubicBezTo>
                      <a:pt x="156" y="98176"/>
                      <a:pt x="28540" y="126433"/>
                      <a:pt x="63500" y="126433"/>
                    </a:cubicBezTo>
                    <a:cubicBezTo>
                      <a:pt x="98460" y="126433"/>
                      <a:pt x="126844" y="98176"/>
                      <a:pt x="127000" y="63217"/>
                    </a:cubicBezTo>
                    <a:close/>
                    <a:moveTo>
                      <a:pt x="78423" y="38848"/>
                    </a:moveTo>
                    <a:cubicBezTo>
                      <a:pt x="64970" y="30692"/>
                      <a:pt x="47455" y="34944"/>
                      <a:pt x="39240" y="48361"/>
                    </a:cubicBezTo>
                    <a:cubicBezTo>
                      <a:pt x="31024" y="61777"/>
                      <a:pt x="35198" y="79310"/>
                      <a:pt x="48577" y="87586"/>
                    </a:cubicBezTo>
                    <a:lnTo>
                      <a:pt x="651026" y="456499"/>
                    </a:lnTo>
                    <a:cubicBezTo>
                      <a:pt x="664479" y="464654"/>
                      <a:pt x="681993" y="460402"/>
                      <a:pt x="690209" y="446986"/>
                    </a:cubicBezTo>
                    <a:cubicBezTo>
                      <a:pt x="698424" y="433570"/>
                      <a:pt x="694250" y="416037"/>
                      <a:pt x="680871" y="407761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>
                <a:off x="1442622" y="5395536"/>
                <a:ext cx="698356" cy="369361"/>
              </a:xfrm>
              <a:custGeom>
                <a:avLst/>
                <a:gdLst/>
                <a:ahLst/>
                <a:cxnLst/>
                <a:rect r="r" b="b" t="t" l="l"/>
                <a:pathLst>
                  <a:path h="369361" w="698356">
                    <a:moveTo>
                      <a:pt x="127000" y="306144"/>
                    </a:moveTo>
                    <a:cubicBezTo>
                      <a:pt x="126843" y="271185"/>
                      <a:pt x="98459" y="242928"/>
                      <a:pt x="63500" y="242928"/>
                    </a:cubicBezTo>
                    <a:cubicBezTo>
                      <a:pt x="28540" y="242928"/>
                      <a:pt x="156" y="271185"/>
                      <a:pt x="0" y="306144"/>
                    </a:cubicBezTo>
                    <a:cubicBezTo>
                      <a:pt x="156" y="341103"/>
                      <a:pt x="28540" y="369361"/>
                      <a:pt x="63500" y="369361"/>
                    </a:cubicBezTo>
                    <a:cubicBezTo>
                      <a:pt x="98459" y="369361"/>
                      <a:pt x="126843" y="341103"/>
                      <a:pt x="127000" y="306144"/>
                    </a:cubicBezTo>
                    <a:close/>
                    <a:moveTo>
                      <a:pt x="51681" y="280128"/>
                    </a:moveTo>
                    <a:cubicBezTo>
                      <a:pt x="37387" y="286699"/>
                      <a:pt x="31093" y="303587"/>
                      <a:pt x="37600" y="317910"/>
                    </a:cubicBezTo>
                    <a:cubicBezTo>
                      <a:pt x="44106" y="332233"/>
                      <a:pt x="60967" y="338603"/>
                      <a:pt x="75319" y="332161"/>
                    </a:cubicBezTo>
                    <a:lnTo>
                      <a:pt x="677767" y="58475"/>
                    </a:lnTo>
                    <a:cubicBezTo>
                      <a:pt x="692061" y="51904"/>
                      <a:pt x="698355" y="35016"/>
                      <a:pt x="691848" y="20693"/>
                    </a:cubicBezTo>
                    <a:cubicBezTo>
                      <a:pt x="685342" y="6370"/>
                      <a:pt x="668482" y="0"/>
                      <a:pt x="654129" y="6443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>
                <a:off x="2045071" y="5364778"/>
                <a:ext cx="695547" cy="140486"/>
              </a:xfrm>
              <a:custGeom>
                <a:avLst/>
                <a:gdLst/>
                <a:ahLst/>
                <a:cxnLst/>
                <a:rect r="r" b="b" t="t" l="l"/>
                <a:pathLst>
                  <a:path h="140486" w="695547">
                    <a:moveTo>
                      <a:pt x="127000" y="63217"/>
                    </a:moveTo>
                    <a:cubicBezTo>
                      <a:pt x="126843" y="28258"/>
                      <a:pt x="98459" y="0"/>
                      <a:pt x="63500" y="0"/>
                    </a:cubicBezTo>
                    <a:cubicBezTo>
                      <a:pt x="28540" y="0"/>
                      <a:pt x="156" y="28258"/>
                      <a:pt x="0" y="63217"/>
                    </a:cubicBezTo>
                    <a:cubicBezTo>
                      <a:pt x="156" y="98176"/>
                      <a:pt x="28540" y="126434"/>
                      <a:pt x="63500" y="126434"/>
                    </a:cubicBezTo>
                    <a:cubicBezTo>
                      <a:pt x="98459" y="126434"/>
                      <a:pt x="126843" y="98176"/>
                      <a:pt x="127000" y="63217"/>
                    </a:cubicBezTo>
                    <a:close/>
                    <a:moveTo>
                      <a:pt x="65751" y="34731"/>
                    </a:moveTo>
                    <a:cubicBezTo>
                      <a:pt x="50063" y="33561"/>
                      <a:pt x="36380" y="45293"/>
                      <a:pt x="35140" y="60976"/>
                    </a:cubicBezTo>
                    <a:cubicBezTo>
                      <a:pt x="33901" y="76658"/>
                      <a:pt x="45571" y="90393"/>
                      <a:pt x="61248" y="91703"/>
                    </a:cubicBezTo>
                    <a:lnTo>
                      <a:pt x="663697" y="139317"/>
                    </a:lnTo>
                    <a:cubicBezTo>
                      <a:pt x="679385" y="140486"/>
                      <a:pt x="693068" y="128755"/>
                      <a:pt x="694307" y="113072"/>
                    </a:cubicBezTo>
                    <a:cubicBezTo>
                      <a:pt x="695547" y="97389"/>
                      <a:pt x="683877" y="83654"/>
                      <a:pt x="668199" y="82345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>
                <a:off x="2647519" y="5412392"/>
                <a:ext cx="698135" cy="325241"/>
              </a:xfrm>
              <a:custGeom>
                <a:avLst/>
                <a:gdLst/>
                <a:ahLst/>
                <a:cxnLst/>
                <a:rect r="r" b="b" t="t" l="l"/>
                <a:pathLst>
                  <a:path h="325241" w="698135">
                    <a:moveTo>
                      <a:pt x="127000" y="63217"/>
                    </a:moveTo>
                    <a:cubicBezTo>
                      <a:pt x="126844" y="28258"/>
                      <a:pt x="98460" y="0"/>
                      <a:pt x="63500" y="0"/>
                    </a:cubicBezTo>
                    <a:cubicBezTo>
                      <a:pt x="28541" y="0"/>
                      <a:pt x="157" y="28258"/>
                      <a:pt x="0" y="63217"/>
                    </a:cubicBezTo>
                    <a:cubicBezTo>
                      <a:pt x="157" y="98176"/>
                      <a:pt x="28541" y="126433"/>
                      <a:pt x="63500" y="126433"/>
                    </a:cubicBezTo>
                    <a:cubicBezTo>
                      <a:pt x="98460" y="126433"/>
                      <a:pt x="126844" y="98176"/>
                      <a:pt x="127000" y="63217"/>
                    </a:cubicBezTo>
                    <a:close/>
                    <a:moveTo>
                      <a:pt x="73684" y="36518"/>
                    </a:moveTo>
                    <a:cubicBezTo>
                      <a:pt x="58960" y="30977"/>
                      <a:pt x="42527" y="38380"/>
                      <a:pt x="36920" y="53079"/>
                    </a:cubicBezTo>
                    <a:cubicBezTo>
                      <a:pt x="31314" y="67778"/>
                      <a:pt x="38643" y="84243"/>
                      <a:pt x="53317" y="89916"/>
                    </a:cubicBezTo>
                    <a:lnTo>
                      <a:pt x="655765" y="319701"/>
                    </a:lnTo>
                    <a:cubicBezTo>
                      <a:pt x="670489" y="325242"/>
                      <a:pt x="686922" y="317839"/>
                      <a:pt x="692529" y="303140"/>
                    </a:cubicBezTo>
                    <a:cubicBezTo>
                      <a:pt x="698135" y="288441"/>
                      <a:pt x="690806" y="271975"/>
                      <a:pt x="676132" y="266303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>
                <a:off x="3249968" y="5642177"/>
                <a:ext cx="694399" cy="126433"/>
              </a:xfrm>
              <a:custGeom>
                <a:avLst/>
                <a:gdLst/>
                <a:ahLst/>
                <a:cxnLst/>
                <a:rect r="r" b="b" t="t" l="l"/>
                <a:pathLst>
                  <a:path h="126433" w="694399">
                    <a:moveTo>
                      <a:pt x="127000" y="63217"/>
                    </a:moveTo>
                    <a:cubicBezTo>
                      <a:pt x="126844" y="28258"/>
                      <a:pt x="98459" y="0"/>
                      <a:pt x="63500" y="0"/>
                    </a:cubicBezTo>
                    <a:cubicBezTo>
                      <a:pt x="28540" y="0"/>
                      <a:pt x="156" y="28258"/>
                      <a:pt x="0" y="63217"/>
                    </a:cubicBezTo>
                    <a:cubicBezTo>
                      <a:pt x="156" y="98176"/>
                      <a:pt x="28540" y="126434"/>
                      <a:pt x="63500" y="126434"/>
                    </a:cubicBezTo>
                    <a:cubicBezTo>
                      <a:pt x="98459" y="126434"/>
                      <a:pt x="126844" y="98176"/>
                      <a:pt x="127000" y="63217"/>
                    </a:cubicBezTo>
                    <a:close/>
                    <a:moveTo>
                      <a:pt x="63504" y="34642"/>
                    </a:moveTo>
                    <a:cubicBezTo>
                      <a:pt x="47773" y="34710"/>
                      <a:pt x="35055" y="47481"/>
                      <a:pt x="35052" y="63213"/>
                    </a:cubicBezTo>
                    <a:cubicBezTo>
                      <a:pt x="35050" y="78944"/>
                      <a:pt x="47764" y="91719"/>
                      <a:pt x="63495" y="91792"/>
                    </a:cubicBezTo>
                    <a:lnTo>
                      <a:pt x="665944" y="91887"/>
                    </a:lnTo>
                    <a:cubicBezTo>
                      <a:pt x="681676" y="91820"/>
                      <a:pt x="694394" y="79049"/>
                      <a:pt x="694396" y="63317"/>
                    </a:cubicBezTo>
                    <a:cubicBezTo>
                      <a:pt x="694399" y="47585"/>
                      <a:pt x="681685" y="34810"/>
                      <a:pt x="665953" y="34737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>
                <a:off x="3852416" y="446079"/>
                <a:ext cx="696066" cy="5322627"/>
              </a:xfrm>
              <a:custGeom>
                <a:avLst/>
                <a:gdLst/>
                <a:ahLst/>
                <a:cxnLst/>
                <a:rect r="r" b="b" t="t" l="l"/>
                <a:pathLst>
                  <a:path h="5322627" w="696066">
                    <a:moveTo>
                      <a:pt x="127000" y="5259410"/>
                    </a:moveTo>
                    <a:cubicBezTo>
                      <a:pt x="126844" y="5224451"/>
                      <a:pt x="98460" y="5196194"/>
                      <a:pt x="63500" y="5196194"/>
                    </a:cubicBezTo>
                    <a:cubicBezTo>
                      <a:pt x="28541" y="5196194"/>
                      <a:pt x="157" y="5224451"/>
                      <a:pt x="0" y="5259410"/>
                    </a:cubicBezTo>
                    <a:cubicBezTo>
                      <a:pt x="157" y="5294369"/>
                      <a:pt x="28541" y="5322627"/>
                      <a:pt x="63500" y="5322627"/>
                    </a:cubicBezTo>
                    <a:cubicBezTo>
                      <a:pt x="98460" y="5322627"/>
                      <a:pt x="126844" y="5294369"/>
                      <a:pt x="127000" y="5259410"/>
                    </a:cubicBezTo>
                    <a:close/>
                    <a:moveTo>
                      <a:pt x="35113" y="5256140"/>
                    </a:moveTo>
                    <a:cubicBezTo>
                      <a:pt x="33383" y="5271776"/>
                      <a:pt x="44616" y="5285870"/>
                      <a:pt x="60245" y="5287671"/>
                    </a:cubicBezTo>
                    <a:cubicBezTo>
                      <a:pt x="75873" y="5289471"/>
                      <a:pt x="90017" y="5278301"/>
                      <a:pt x="91888" y="5262681"/>
                    </a:cubicBezTo>
                    <a:lnTo>
                      <a:pt x="694336" y="33331"/>
                    </a:lnTo>
                    <a:cubicBezTo>
                      <a:pt x="696067" y="17695"/>
                      <a:pt x="684833" y="3601"/>
                      <a:pt x="669205" y="1800"/>
                    </a:cubicBezTo>
                    <a:cubicBezTo>
                      <a:pt x="653576" y="0"/>
                      <a:pt x="639432" y="11170"/>
                      <a:pt x="637562" y="26791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>
                <a:off x="4454865" y="412923"/>
                <a:ext cx="696297" cy="4569223"/>
              </a:xfrm>
              <a:custGeom>
                <a:avLst/>
                <a:gdLst/>
                <a:ahLst/>
                <a:cxnLst/>
                <a:rect r="r" b="b" t="t" l="l"/>
                <a:pathLst>
                  <a:path h="4569223" w="696297">
                    <a:moveTo>
                      <a:pt x="127000" y="63217"/>
                    </a:moveTo>
                    <a:cubicBezTo>
                      <a:pt x="126844" y="28258"/>
                      <a:pt x="98460" y="0"/>
                      <a:pt x="63500" y="0"/>
                    </a:cubicBezTo>
                    <a:cubicBezTo>
                      <a:pt x="28541" y="0"/>
                      <a:pt x="156" y="28258"/>
                      <a:pt x="0" y="63217"/>
                    </a:cubicBezTo>
                    <a:cubicBezTo>
                      <a:pt x="156" y="98176"/>
                      <a:pt x="28541" y="126434"/>
                      <a:pt x="63500" y="126434"/>
                    </a:cubicBezTo>
                    <a:cubicBezTo>
                      <a:pt x="98460" y="126434"/>
                      <a:pt x="126844" y="98176"/>
                      <a:pt x="127000" y="63217"/>
                    </a:cubicBezTo>
                    <a:close/>
                    <a:moveTo>
                      <a:pt x="91820" y="59405"/>
                    </a:moveTo>
                    <a:cubicBezTo>
                      <a:pt x="89651" y="43823"/>
                      <a:pt x="75296" y="32925"/>
                      <a:pt x="59706" y="35024"/>
                    </a:cubicBezTo>
                    <a:cubicBezTo>
                      <a:pt x="44114" y="37122"/>
                      <a:pt x="33152" y="51428"/>
                      <a:pt x="35181" y="67029"/>
                    </a:cubicBezTo>
                    <a:lnTo>
                      <a:pt x="637629" y="4542744"/>
                    </a:lnTo>
                    <a:cubicBezTo>
                      <a:pt x="639798" y="4558325"/>
                      <a:pt x="654153" y="4569224"/>
                      <a:pt x="669744" y="4567125"/>
                    </a:cubicBezTo>
                    <a:cubicBezTo>
                      <a:pt x="685335" y="4565027"/>
                      <a:pt x="696297" y="4550721"/>
                      <a:pt x="694268" y="4535120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>
                <a:off x="5057314" y="3586261"/>
                <a:ext cx="698402" cy="1428810"/>
              </a:xfrm>
              <a:custGeom>
                <a:avLst/>
                <a:gdLst/>
                <a:ahLst/>
                <a:cxnLst/>
                <a:rect r="r" b="b" t="t" l="l"/>
                <a:pathLst>
                  <a:path h="1428810" w="698402">
                    <a:moveTo>
                      <a:pt x="127000" y="1365594"/>
                    </a:moveTo>
                    <a:cubicBezTo>
                      <a:pt x="126844" y="1330635"/>
                      <a:pt x="98459" y="1302377"/>
                      <a:pt x="63500" y="1302377"/>
                    </a:cubicBezTo>
                    <a:cubicBezTo>
                      <a:pt x="28540" y="1302377"/>
                      <a:pt x="156" y="1330635"/>
                      <a:pt x="0" y="1365594"/>
                    </a:cubicBezTo>
                    <a:cubicBezTo>
                      <a:pt x="156" y="1400553"/>
                      <a:pt x="28540" y="1428811"/>
                      <a:pt x="63500" y="1428811"/>
                    </a:cubicBezTo>
                    <a:cubicBezTo>
                      <a:pt x="98459" y="1428811"/>
                      <a:pt x="126844" y="1400553"/>
                      <a:pt x="127000" y="1365594"/>
                    </a:cubicBezTo>
                    <a:close/>
                    <a:moveTo>
                      <a:pt x="37460" y="1353827"/>
                    </a:moveTo>
                    <a:cubicBezTo>
                      <a:pt x="31046" y="1368192"/>
                      <a:pt x="37449" y="1385039"/>
                      <a:pt x="51785" y="1391517"/>
                    </a:cubicBezTo>
                    <a:cubicBezTo>
                      <a:pt x="66122" y="1397996"/>
                      <a:pt x="82997" y="1391668"/>
                      <a:pt x="89540" y="1377361"/>
                    </a:cubicBezTo>
                    <a:lnTo>
                      <a:pt x="691988" y="44169"/>
                    </a:lnTo>
                    <a:cubicBezTo>
                      <a:pt x="698402" y="29804"/>
                      <a:pt x="691999" y="12957"/>
                      <a:pt x="677663" y="6479"/>
                    </a:cubicBezTo>
                    <a:cubicBezTo>
                      <a:pt x="663327" y="0"/>
                      <a:pt x="646451" y="6328"/>
                      <a:pt x="639909" y="20635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>
                <a:off x="5659763" y="3555447"/>
                <a:ext cx="697780" cy="2094780"/>
              </a:xfrm>
              <a:custGeom>
                <a:avLst/>
                <a:gdLst/>
                <a:ahLst/>
                <a:cxnLst/>
                <a:rect r="r" b="b" t="t" l="l"/>
                <a:pathLst>
                  <a:path h="2094780" w="697780">
                    <a:moveTo>
                      <a:pt x="127000" y="63216"/>
                    </a:moveTo>
                    <a:cubicBezTo>
                      <a:pt x="126843" y="28257"/>
                      <a:pt x="98459" y="0"/>
                      <a:pt x="63500" y="0"/>
                    </a:cubicBezTo>
                    <a:cubicBezTo>
                      <a:pt x="28540" y="0"/>
                      <a:pt x="156" y="28257"/>
                      <a:pt x="0" y="63216"/>
                    </a:cubicBezTo>
                    <a:cubicBezTo>
                      <a:pt x="156" y="98175"/>
                      <a:pt x="28540" y="126433"/>
                      <a:pt x="63500" y="126433"/>
                    </a:cubicBezTo>
                    <a:cubicBezTo>
                      <a:pt x="98459" y="126433"/>
                      <a:pt x="126843" y="98175"/>
                      <a:pt x="127000" y="63216"/>
                    </a:cubicBezTo>
                    <a:close/>
                    <a:moveTo>
                      <a:pt x="90860" y="54974"/>
                    </a:moveTo>
                    <a:cubicBezTo>
                      <a:pt x="86255" y="39931"/>
                      <a:pt x="70357" y="31440"/>
                      <a:pt x="55294" y="35978"/>
                    </a:cubicBezTo>
                    <a:cubicBezTo>
                      <a:pt x="40231" y="40516"/>
                      <a:pt x="31669" y="56376"/>
                      <a:pt x="36139" y="71459"/>
                    </a:cubicBezTo>
                    <a:lnTo>
                      <a:pt x="638588" y="2071246"/>
                    </a:lnTo>
                    <a:cubicBezTo>
                      <a:pt x="643193" y="2086289"/>
                      <a:pt x="659091" y="2094780"/>
                      <a:pt x="674154" y="2090242"/>
                    </a:cubicBezTo>
                    <a:cubicBezTo>
                      <a:pt x="689217" y="2085704"/>
                      <a:pt x="697779" y="2069845"/>
                      <a:pt x="693309" y="2054761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>
                <a:off x="6262211" y="5555234"/>
                <a:ext cx="696353" cy="180716"/>
              </a:xfrm>
              <a:custGeom>
                <a:avLst/>
                <a:gdLst/>
                <a:ahLst/>
                <a:cxnLst/>
                <a:rect r="r" b="b" t="t" l="l"/>
                <a:pathLst>
                  <a:path h="180716" w="696353">
                    <a:moveTo>
                      <a:pt x="127000" y="63217"/>
                    </a:moveTo>
                    <a:cubicBezTo>
                      <a:pt x="126844" y="28258"/>
                      <a:pt x="98460" y="0"/>
                      <a:pt x="63500" y="0"/>
                    </a:cubicBezTo>
                    <a:cubicBezTo>
                      <a:pt x="28541" y="0"/>
                      <a:pt x="156" y="28258"/>
                      <a:pt x="0" y="63217"/>
                    </a:cubicBezTo>
                    <a:cubicBezTo>
                      <a:pt x="156" y="98176"/>
                      <a:pt x="28541" y="126434"/>
                      <a:pt x="63500" y="126434"/>
                    </a:cubicBezTo>
                    <a:cubicBezTo>
                      <a:pt x="98460" y="126434"/>
                      <a:pt x="126844" y="98176"/>
                      <a:pt x="127000" y="63217"/>
                    </a:cubicBezTo>
                    <a:close/>
                    <a:moveTo>
                      <a:pt x="67586" y="34936"/>
                    </a:moveTo>
                    <a:cubicBezTo>
                      <a:pt x="52006" y="32756"/>
                      <a:pt x="37595" y="43579"/>
                      <a:pt x="35345" y="59149"/>
                    </a:cubicBezTo>
                    <a:cubicBezTo>
                      <a:pt x="33096" y="74719"/>
                      <a:pt x="43854" y="89179"/>
                      <a:pt x="59414" y="91498"/>
                    </a:cubicBezTo>
                    <a:lnTo>
                      <a:pt x="661863" y="178537"/>
                    </a:lnTo>
                    <a:cubicBezTo>
                      <a:pt x="677444" y="180716"/>
                      <a:pt x="691855" y="169893"/>
                      <a:pt x="694104" y="154323"/>
                    </a:cubicBezTo>
                    <a:cubicBezTo>
                      <a:pt x="696353" y="138753"/>
                      <a:pt x="685595" y="124293"/>
                      <a:pt x="670035" y="121974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>
                <a:off x="6864660" y="4538440"/>
                <a:ext cx="698502" cy="1230266"/>
              </a:xfrm>
              <a:custGeom>
                <a:avLst/>
                <a:gdLst/>
                <a:ahLst/>
                <a:cxnLst/>
                <a:rect r="r" b="b" t="t" l="l"/>
                <a:pathLst>
                  <a:path h="1230266" w="698502">
                    <a:moveTo>
                      <a:pt x="127000" y="1167049"/>
                    </a:moveTo>
                    <a:cubicBezTo>
                      <a:pt x="126843" y="1132090"/>
                      <a:pt x="98460" y="1103833"/>
                      <a:pt x="63500" y="1103833"/>
                    </a:cubicBezTo>
                    <a:cubicBezTo>
                      <a:pt x="28540" y="1103833"/>
                      <a:pt x="157" y="1132090"/>
                      <a:pt x="0" y="1167049"/>
                    </a:cubicBezTo>
                    <a:cubicBezTo>
                      <a:pt x="157" y="1202008"/>
                      <a:pt x="28540" y="1230266"/>
                      <a:pt x="63500" y="1230266"/>
                    </a:cubicBezTo>
                    <a:cubicBezTo>
                      <a:pt x="98460" y="1230266"/>
                      <a:pt x="126843" y="1202008"/>
                      <a:pt x="127000" y="1167049"/>
                    </a:cubicBezTo>
                    <a:close/>
                    <a:moveTo>
                      <a:pt x="38262" y="1153648"/>
                    </a:moveTo>
                    <a:cubicBezTo>
                      <a:pt x="30946" y="1167575"/>
                      <a:pt x="36264" y="1184796"/>
                      <a:pt x="50158" y="1192174"/>
                    </a:cubicBezTo>
                    <a:cubicBezTo>
                      <a:pt x="64053" y="1199552"/>
                      <a:pt x="81297" y="1194312"/>
                      <a:pt x="88737" y="1180450"/>
                    </a:cubicBezTo>
                    <a:lnTo>
                      <a:pt x="691187" y="45904"/>
                    </a:lnTo>
                    <a:cubicBezTo>
                      <a:pt x="698502" y="31977"/>
                      <a:pt x="693185" y="14756"/>
                      <a:pt x="679290" y="7378"/>
                    </a:cubicBezTo>
                    <a:cubicBezTo>
                      <a:pt x="665396" y="0"/>
                      <a:pt x="648151" y="5241"/>
                      <a:pt x="640711" y="19102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>
                <a:off x="7467109" y="4507726"/>
                <a:ext cx="698449" cy="1047948"/>
              </a:xfrm>
              <a:custGeom>
                <a:avLst/>
                <a:gdLst/>
                <a:ahLst/>
                <a:cxnLst/>
                <a:rect r="r" b="b" t="t" l="l"/>
                <a:pathLst>
                  <a:path h="1047948" w="698449">
                    <a:moveTo>
                      <a:pt x="127000" y="63217"/>
                    </a:moveTo>
                    <a:cubicBezTo>
                      <a:pt x="126843" y="28258"/>
                      <a:pt x="98459" y="0"/>
                      <a:pt x="63500" y="0"/>
                    </a:cubicBezTo>
                    <a:cubicBezTo>
                      <a:pt x="28540" y="0"/>
                      <a:pt x="156" y="28258"/>
                      <a:pt x="0" y="63217"/>
                    </a:cubicBezTo>
                    <a:cubicBezTo>
                      <a:pt x="156" y="98176"/>
                      <a:pt x="28540" y="126434"/>
                      <a:pt x="63500" y="126434"/>
                    </a:cubicBezTo>
                    <a:cubicBezTo>
                      <a:pt x="98459" y="126434"/>
                      <a:pt x="126843" y="98176"/>
                      <a:pt x="127000" y="63217"/>
                    </a:cubicBezTo>
                    <a:close/>
                    <a:moveTo>
                      <a:pt x="87648" y="47940"/>
                    </a:moveTo>
                    <a:cubicBezTo>
                      <a:pt x="79182" y="34672"/>
                      <a:pt x="61582" y="30747"/>
                      <a:pt x="48281" y="39162"/>
                    </a:cubicBezTo>
                    <a:cubicBezTo>
                      <a:pt x="34981" y="47576"/>
                      <a:pt x="30988" y="65161"/>
                      <a:pt x="39351" y="78494"/>
                    </a:cubicBezTo>
                    <a:lnTo>
                      <a:pt x="641800" y="1030774"/>
                    </a:lnTo>
                    <a:cubicBezTo>
                      <a:pt x="650270" y="1044031"/>
                      <a:pt x="667863" y="1047948"/>
                      <a:pt x="681157" y="1039537"/>
                    </a:cubicBezTo>
                    <a:cubicBezTo>
                      <a:pt x="694453" y="1031127"/>
                      <a:pt x="698448" y="1013552"/>
                      <a:pt x="690097" y="1000220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6" id="46"/>
              <p:cNvSpPr/>
              <p:nvPr/>
            </p:nvSpPr>
            <p:spPr>
              <a:xfrm>
                <a:off x="8069557" y="5460006"/>
                <a:ext cx="697232" cy="235493"/>
              </a:xfrm>
              <a:custGeom>
                <a:avLst/>
                <a:gdLst/>
                <a:ahLst/>
                <a:cxnLst/>
                <a:rect r="r" b="b" t="t" l="l"/>
                <a:pathLst>
                  <a:path h="235493" w="697232">
                    <a:moveTo>
                      <a:pt x="127000" y="63217"/>
                    </a:moveTo>
                    <a:cubicBezTo>
                      <a:pt x="126843" y="28258"/>
                      <a:pt x="98460" y="0"/>
                      <a:pt x="63500" y="0"/>
                    </a:cubicBezTo>
                    <a:cubicBezTo>
                      <a:pt x="28540" y="0"/>
                      <a:pt x="157" y="28258"/>
                      <a:pt x="0" y="63217"/>
                    </a:cubicBezTo>
                    <a:cubicBezTo>
                      <a:pt x="157" y="98176"/>
                      <a:pt x="28540" y="126434"/>
                      <a:pt x="63500" y="126434"/>
                    </a:cubicBezTo>
                    <a:cubicBezTo>
                      <a:pt x="98460" y="126434"/>
                      <a:pt x="126843" y="98176"/>
                      <a:pt x="127000" y="63217"/>
                    </a:cubicBezTo>
                    <a:close/>
                    <a:moveTo>
                      <a:pt x="70010" y="35393"/>
                    </a:moveTo>
                    <a:cubicBezTo>
                      <a:pt x="54676" y="31878"/>
                      <a:pt x="39384" y="41418"/>
                      <a:pt x="35801" y="56736"/>
                    </a:cubicBezTo>
                    <a:cubicBezTo>
                      <a:pt x="32217" y="72055"/>
                      <a:pt x="41689" y="87388"/>
                      <a:pt x="56991" y="91040"/>
                    </a:cubicBezTo>
                    <a:lnTo>
                      <a:pt x="659440" y="231978"/>
                    </a:lnTo>
                    <a:cubicBezTo>
                      <a:pt x="674774" y="235493"/>
                      <a:pt x="690065" y="225953"/>
                      <a:pt x="693648" y="210635"/>
                    </a:cubicBezTo>
                    <a:cubicBezTo>
                      <a:pt x="697232" y="195316"/>
                      <a:pt x="687760" y="179983"/>
                      <a:pt x="672458" y="176331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>
                <a:off x="8672006" y="5269550"/>
                <a:ext cx="729448" cy="457827"/>
              </a:xfrm>
              <a:custGeom>
                <a:avLst/>
                <a:gdLst/>
                <a:ahLst/>
                <a:cxnLst/>
                <a:rect r="r" b="b" t="t" l="l"/>
                <a:pathLst>
                  <a:path h="457827" w="729448">
                    <a:moveTo>
                      <a:pt x="127000" y="394610"/>
                    </a:moveTo>
                    <a:cubicBezTo>
                      <a:pt x="126844" y="359651"/>
                      <a:pt x="98460" y="331394"/>
                      <a:pt x="63500" y="331394"/>
                    </a:cubicBezTo>
                    <a:cubicBezTo>
                      <a:pt x="28540" y="331394"/>
                      <a:pt x="157" y="359651"/>
                      <a:pt x="0" y="394610"/>
                    </a:cubicBezTo>
                    <a:cubicBezTo>
                      <a:pt x="157" y="429570"/>
                      <a:pt x="28540" y="457827"/>
                      <a:pt x="63500" y="457827"/>
                    </a:cubicBezTo>
                    <a:cubicBezTo>
                      <a:pt x="98460" y="457827"/>
                      <a:pt x="126844" y="429570"/>
                      <a:pt x="127000" y="394610"/>
                    </a:cubicBezTo>
                    <a:close/>
                    <a:moveTo>
                      <a:pt x="49728" y="369573"/>
                    </a:moveTo>
                    <a:cubicBezTo>
                      <a:pt x="35977" y="377217"/>
                      <a:pt x="30992" y="394537"/>
                      <a:pt x="38575" y="408321"/>
                    </a:cubicBezTo>
                    <a:cubicBezTo>
                      <a:pt x="46157" y="422105"/>
                      <a:pt x="63455" y="427168"/>
                      <a:pt x="77272" y="419647"/>
                    </a:cubicBezTo>
                    <a:lnTo>
                      <a:pt x="679721" y="88254"/>
                    </a:lnTo>
                    <a:cubicBezTo>
                      <a:pt x="693492" y="80621"/>
                      <a:pt x="698493" y="63285"/>
                      <a:pt x="690905" y="49490"/>
                    </a:cubicBezTo>
                    <a:cubicBezTo>
                      <a:pt x="683316" y="35694"/>
                      <a:pt x="665997" y="30636"/>
                      <a:pt x="652177" y="38180"/>
                    </a:cubicBezTo>
                    <a:close/>
                    <a:moveTo>
                      <a:pt x="729449" y="63217"/>
                    </a:moveTo>
                    <a:cubicBezTo>
                      <a:pt x="729292" y="28258"/>
                      <a:pt x="700909" y="0"/>
                      <a:pt x="665949" y="0"/>
                    </a:cubicBezTo>
                    <a:cubicBezTo>
                      <a:pt x="630989" y="0"/>
                      <a:pt x="602605" y="28258"/>
                      <a:pt x="602449" y="63217"/>
                    </a:cubicBezTo>
                    <a:cubicBezTo>
                      <a:pt x="602605" y="98176"/>
                      <a:pt x="630989" y="126433"/>
                      <a:pt x="665949" y="126433"/>
                    </a:cubicBezTo>
                    <a:cubicBezTo>
                      <a:pt x="700909" y="126433"/>
                      <a:pt x="729292" y="98176"/>
                      <a:pt x="729449" y="63217"/>
                    </a:cubicBezTo>
                    <a:close/>
                  </a:path>
                </a:pathLst>
              </a:custGeom>
              <a:solidFill>
                <a:srgbClr val="F94E6B"/>
              </a:solidFill>
            </p:spPr>
          </p:sp>
        </p:grpSp>
      </p:grpSp>
      <p:grpSp>
        <p:nvGrpSpPr>
          <p:cNvPr name="Group 48" id="48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49" id="49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50" id="50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237520" y="9225117"/>
            <a:ext cx="439086" cy="390299"/>
            <a:chOff x="0" y="0"/>
            <a:chExt cx="585449" cy="520399"/>
          </a:xfrm>
        </p:grpSpPr>
        <p:sp>
          <p:nvSpPr>
            <p:cNvPr name="AutoShape 52" id="52"/>
            <p:cNvSpPr/>
            <p:nvPr/>
          </p:nvSpPr>
          <p:spPr>
            <a:xfrm rot="0">
              <a:off x="0" y="0"/>
              <a:ext cx="585449" cy="520399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name="Group 53" id="53"/>
            <p:cNvGrpSpPr/>
            <p:nvPr/>
          </p:nvGrpSpPr>
          <p:grpSpPr>
            <a:xfrm rot="0">
              <a:off x="0" y="155524"/>
              <a:ext cx="467819" cy="209350"/>
              <a:chOff x="0" y="0"/>
              <a:chExt cx="959235" cy="429260"/>
            </a:xfrm>
          </p:grpSpPr>
          <p:sp>
            <p:nvSpPr>
              <p:cNvPr name="Freeform 54" id="54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r="r" b="b" t="t" l="l"/>
                <a:pathLst>
                  <a:path h="434340" w="959235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  <p:grpSp>
        <p:nvGrpSpPr>
          <p:cNvPr name="Group 55" id="55"/>
          <p:cNvGrpSpPr/>
          <p:nvPr/>
        </p:nvGrpSpPr>
        <p:grpSpPr>
          <a:xfrm rot="0">
            <a:off x="0" y="5894586"/>
            <a:ext cx="7338303" cy="4651037"/>
            <a:chOff x="0" y="0"/>
            <a:chExt cx="2137363" cy="1354667"/>
          </a:xfrm>
        </p:grpSpPr>
        <p:sp>
          <p:nvSpPr>
            <p:cNvPr name="Freeform 56" id="56"/>
            <p:cNvSpPr/>
            <p:nvPr/>
          </p:nvSpPr>
          <p:spPr>
            <a:xfrm>
              <a:off x="0" y="0"/>
              <a:ext cx="2137363" cy="1354667"/>
            </a:xfrm>
            <a:custGeom>
              <a:avLst/>
              <a:gdLst/>
              <a:ahLst/>
              <a:cxnLst/>
              <a:rect r="r" b="b" t="t" l="l"/>
              <a:pathLst>
                <a:path h="1354667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9996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6951" y="1950108"/>
            <a:ext cx="5873459" cy="2828656"/>
            <a:chOff x="0" y="0"/>
            <a:chExt cx="7831279" cy="3771542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0"/>
              <a:ext cx="7831279" cy="261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812"/>
                </a:lnSpc>
              </a:pPr>
              <a:r>
                <a:rPr lang="en-US" sz="6510">
                  <a:solidFill>
                    <a:srgbClr val="FDFCFC"/>
                  </a:solidFill>
                  <a:latin typeface="Poppins Bold"/>
                </a:rPr>
                <a:t>Patients </a:t>
              </a:r>
            </a:p>
            <a:p>
              <a:pPr>
                <a:lnSpc>
                  <a:spcPts val="7812"/>
                </a:lnSpc>
              </a:pPr>
              <a:r>
                <a:rPr lang="en-US" sz="6510">
                  <a:solidFill>
                    <a:srgbClr val="FDFCFC"/>
                  </a:solidFill>
                  <a:latin typeface="Poppins Bold"/>
                </a:rPr>
                <a:t>age range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0" y="3190314"/>
              <a:ext cx="7831279" cy="581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797"/>
                </a:lnSpc>
              </a:pPr>
              <a:r>
                <a:rPr lang="en-US" sz="2712">
                  <a:solidFill>
                    <a:srgbClr val="FDFCFC"/>
                  </a:solidFill>
                  <a:latin typeface="Poppins Light Bold"/>
                </a:rPr>
                <a:t>was from 35 days to 55 years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06951" y="6566802"/>
            <a:ext cx="5419890" cy="2800078"/>
            <a:chOff x="0" y="0"/>
            <a:chExt cx="7226519" cy="3733438"/>
          </a:xfrm>
        </p:grpSpPr>
        <p:sp>
          <p:nvSpPr>
            <p:cNvPr name="TextBox 62" id="62"/>
            <p:cNvSpPr txBox="true"/>
            <p:nvPr/>
          </p:nvSpPr>
          <p:spPr>
            <a:xfrm rot="0">
              <a:off x="0" y="0"/>
              <a:ext cx="7226519" cy="1308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812"/>
                </a:lnSpc>
              </a:pPr>
              <a:r>
                <a:rPr lang="en-US" sz="6510">
                  <a:solidFill>
                    <a:srgbClr val="FDFCFC"/>
                  </a:solidFill>
                  <a:latin typeface="Poppins Bold Bold"/>
                </a:rPr>
                <a:t>Patients Sex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0" y="1882210"/>
              <a:ext cx="7226519" cy="1851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797"/>
                </a:lnSpc>
              </a:pPr>
              <a:r>
                <a:rPr lang="en-US" sz="2712">
                  <a:solidFill>
                    <a:srgbClr val="FDFCFC"/>
                  </a:solidFill>
                  <a:latin typeface="Poppins Light Bold"/>
                </a:rPr>
                <a:t>out of 16 cases 9 were male; indicating it is more frequent in male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331156" y="6960319"/>
            <a:ext cx="4509161" cy="2948019"/>
            <a:chOff x="0" y="0"/>
            <a:chExt cx="6012214" cy="3930692"/>
          </a:xfrm>
        </p:grpSpPr>
        <p:sp>
          <p:nvSpPr>
            <p:cNvPr name="TextBox 65" id="65"/>
            <p:cNvSpPr txBox="true"/>
            <p:nvPr/>
          </p:nvSpPr>
          <p:spPr>
            <a:xfrm rot="0">
              <a:off x="5176255" y="2058138"/>
              <a:ext cx="835959" cy="79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0"/>
                </a:lnSpc>
              </a:pPr>
              <a:r>
                <a:rPr lang="en-US" sz="1742">
                  <a:solidFill>
                    <a:srgbClr val="141414"/>
                  </a:solidFill>
                  <a:latin typeface="Poppins Medium"/>
                </a:rPr>
                <a:t>male</a:t>
              </a:r>
            </a:p>
            <a:p>
              <a:pPr algn="ctr">
                <a:lnSpc>
                  <a:spcPts val="2440"/>
                </a:lnSpc>
              </a:pPr>
              <a:r>
                <a:rPr lang="en-US" sz="1742">
                  <a:solidFill>
                    <a:srgbClr val="141414"/>
                  </a:solidFill>
                  <a:latin typeface="Poppins Medium"/>
                </a:rPr>
                <a:t>56.3%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1049471"/>
              <a:ext cx="1046648" cy="79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0"/>
                </a:lnSpc>
              </a:pPr>
              <a:r>
                <a:rPr lang="en-US" sz="1742">
                  <a:solidFill>
                    <a:srgbClr val="141414"/>
                  </a:solidFill>
                  <a:latin typeface="Poppins Medium"/>
                </a:rPr>
                <a:t>female</a:t>
              </a:r>
            </a:p>
            <a:p>
              <a:pPr algn="ctr">
                <a:lnSpc>
                  <a:spcPts val="2440"/>
                </a:lnSpc>
              </a:pPr>
              <a:r>
                <a:rPr lang="en-US" sz="1742">
                  <a:solidFill>
                    <a:srgbClr val="141414"/>
                  </a:solidFill>
                  <a:latin typeface="Poppins Medium"/>
                </a:rPr>
                <a:t>43.8%</a:t>
              </a:r>
            </a:p>
          </p:txBody>
        </p:sp>
        <p:grpSp>
          <p:nvGrpSpPr>
            <p:cNvPr name="Group 67" id="67"/>
            <p:cNvGrpSpPr>
              <a:grpSpLocks noChangeAspect="true"/>
            </p:cNvGrpSpPr>
            <p:nvPr/>
          </p:nvGrpSpPr>
          <p:grpSpPr>
            <a:xfrm rot="0">
              <a:off x="1093433" y="0"/>
              <a:ext cx="3930692" cy="3930692"/>
              <a:chOff x="0" y="0"/>
              <a:chExt cx="2540000" cy="2540000"/>
            </a:xfrm>
          </p:grpSpPr>
          <p:sp>
            <p:nvSpPr>
              <p:cNvPr name="Freeform 68" id="68"/>
              <p:cNvSpPr/>
              <p:nvPr/>
            </p:nvSpPr>
            <p:spPr>
              <a:xfrm>
                <a:off x="725958" y="0"/>
                <a:ext cx="1916775" cy="2640920"/>
              </a:xfrm>
              <a:custGeom>
                <a:avLst/>
                <a:gdLst/>
                <a:ahLst/>
                <a:cxnLst/>
                <a:rect r="r" b="b" t="t" l="l"/>
                <a:pathLst>
                  <a:path h="2640920" w="1916775">
                    <a:moveTo>
                      <a:pt x="544042" y="0"/>
                    </a:moveTo>
                    <a:cubicBezTo>
                      <a:pt x="1065424" y="0"/>
                      <a:pt x="1533837" y="318662"/>
                      <a:pt x="1725306" y="803614"/>
                    </a:cubicBezTo>
                    <a:cubicBezTo>
                      <a:pt x="1916774" y="1288566"/>
                      <a:pt x="1792394" y="1841274"/>
                      <a:pt x="1411640" y="2197455"/>
                    </a:cubicBezTo>
                    <a:cubicBezTo>
                      <a:pt x="1030886" y="2553636"/>
                      <a:pt x="471119" y="2640920"/>
                      <a:pt x="0" y="2417570"/>
                    </a:cubicBezTo>
                    <a:lnTo>
                      <a:pt x="544042" y="1270000"/>
                    </a:lnTo>
                    <a:close/>
                  </a:path>
                </a:pathLst>
              </a:custGeom>
              <a:solidFill>
                <a:srgbClr val="DD211D"/>
              </a:solidFill>
            </p:spPr>
          </p:sp>
          <p:sp>
            <p:nvSpPr>
              <p:cNvPr name="Freeform 69" id="69"/>
              <p:cNvSpPr/>
              <p:nvPr/>
            </p:nvSpPr>
            <p:spPr>
              <a:xfrm>
                <a:off x="-93778" y="0"/>
                <a:ext cx="1363778" cy="2443327"/>
              </a:xfrm>
              <a:custGeom>
                <a:avLst/>
                <a:gdLst/>
                <a:ahLst/>
                <a:cxnLst/>
                <a:rect r="r" b="b" t="t" l="l"/>
                <a:pathLst>
                  <a:path h="2443327" w="1363778">
                    <a:moveTo>
                      <a:pt x="877770" y="2443327"/>
                    </a:moveTo>
                    <a:cubicBezTo>
                      <a:pt x="318028" y="2211474"/>
                      <a:pt x="0" y="1616523"/>
                      <a:pt x="118168" y="1022298"/>
                    </a:cubicBezTo>
                    <a:cubicBezTo>
                      <a:pt x="236336" y="428073"/>
                      <a:pt x="757790" y="61"/>
                      <a:pt x="1363651" y="0"/>
                    </a:cubicBezTo>
                    <a:lnTo>
                      <a:pt x="1363778" y="1270000"/>
                    </a:lnTo>
                    <a:close/>
                  </a:path>
                </a:pathLst>
              </a:custGeom>
              <a:solidFill>
                <a:srgbClr val="F94E6B"/>
              </a:solidFill>
            </p:spPr>
          </p:sp>
          <p:sp>
            <p:nvSpPr>
              <p:cNvPr name="Freeform 70" id="70"/>
              <p:cNvSpPr/>
              <p:nvPr/>
            </p:nvSpPr>
            <p:spPr>
              <a:xfrm>
                <a:off x="1270000" y="0"/>
                <a:ext cx="127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">
                    <a:moveTo>
                      <a:pt x="0" y="0"/>
                    </a:moveTo>
                    <a:cubicBezTo>
                      <a:pt x="42" y="0"/>
                      <a:pt x="85" y="0"/>
                      <a:pt x="127" y="0"/>
                    </a:cubicBez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FF7FAC"/>
              </a:solidFill>
            </p:spPr>
          </p:sp>
        </p:grpSp>
      </p:grpSp>
      <p:sp>
        <p:nvSpPr>
          <p:cNvPr name="TextBox 71" id="71"/>
          <p:cNvSpPr txBox="true"/>
          <p:nvPr/>
        </p:nvSpPr>
        <p:spPr>
          <a:xfrm rot="0">
            <a:off x="7338303" y="-152400"/>
            <a:ext cx="10949697" cy="142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DD211D"/>
                </a:solidFill>
                <a:latin typeface="Poppins Bold"/>
              </a:rPr>
              <a:t>Patients overview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6109" y="1028700"/>
            <a:ext cx="14163191" cy="7077259"/>
            <a:chOff x="0" y="0"/>
            <a:chExt cx="18884255" cy="943634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5" y="0"/>
              <a:ext cx="18884240" cy="2893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640"/>
                </a:lnSpc>
              </a:pPr>
              <a:r>
                <a:rPr lang="en-US" sz="7200">
                  <a:solidFill>
                    <a:srgbClr val="141414"/>
                  </a:solidFill>
                  <a:latin typeface="Poppins Bold Bold"/>
                </a:rPr>
                <a:t>Current status</a:t>
              </a:r>
              <a:r>
                <a:rPr lang="en-US" sz="7200">
                  <a:solidFill>
                    <a:srgbClr val="141414"/>
                  </a:solidFill>
                  <a:latin typeface="Poppins Bold Bold"/>
                </a:rPr>
                <a:t> in</a:t>
              </a:r>
            </a:p>
            <a:p>
              <a:pPr>
                <a:lnSpc>
                  <a:spcPts val="8640"/>
                </a:lnSpc>
              </a:pPr>
              <a:r>
                <a:rPr lang="en-US" sz="7200">
                  <a:solidFill>
                    <a:srgbClr val="DD211D"/>
                  </a:solidFill>
                  <a:latin typeface="Poppins Bold Bold"/>
                </a:rPr>
                <a:t>Bangladesh</a:t>
              </a:r>
              <a:r>
                <a:rPr lang="en-US" sz="7200">
                  <a:solidFill>
                    <a:srgbClr val="141414"/>
                  </a:solidFill>
                  <a:latin typeface="Poppins Bold Bold"/>
                </a:rPr>
                <a:t>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605265"/>
              <a:ext cx="15448464" cy="4831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US" sz="2400">
                  <a:solidFill>
                    <a:srgbClr val="141414"/>
                  </a:solidFill>
                  <a:latin typeface="Poppins Light"/>
                </a:rPr>
                <a:t>according to the National Strategy and Action Plan for Clubfoot Care in Bangladesh-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141414"/>
                  </a:solidFill>
                  <a:latin typeface="Poppins Light"/>
                </a:rPr>
                <a:t> the country has a network of Ponseti Clubfoot clinics at 44 medical college and district hospitals, managed by national and international non-government organizations. </a:t>
              </a:r>
            </a:p>
            <a:p>
              <a:pPr algn="just" marL="518160" indent="-259080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141414"/>
                  </a:solidFill>
                  <a:latin typeface="Poppins Light"/>
                </a:rPr>
                <a:t>only 3 of these clinics are specialized hospitals, and 24 are secondary level hospitals.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3" id="3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4" id="4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833007" y="2678652"/>
            <a:ext cx="2565426" cy="2298180"/>
            <a:chOff x="0" y="0"/>
            <a:chExt cx="13106099" cy="11740811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13106099" cy="11740811"/>
            </a:xfrm>
            <a:custGeom>
              <a:avLst/>
              <a:gdLst/>
              <a:ahLst/>
              <a:cxnLst/>
              <a:rect r="r" b="b" t="t" l="l"/>
              <a:pathLst>
                <a:path h="11740811" w="13106099">
                  <a:moveTo>
                    <a:pt x="0" y="0"/>
                  </a:moveTo>
                  <a:lnTo>
                    <a:pt x="0" y="11740811"/>
                  </a:lnTo>
                  <a:lnTo>
                    <a:pt x="13106099" y="11740811"/>
                  </a:lnTo>
                  <a:lnTo>
                    <a:pt x="13106099" y="0"/>
                  </a:lnTo>
                  <a:lnTo>
                    <a:pt x="0" y="0"/>
                  </a:lnTo>
                  <a:close/>
                  <a:moveTo>
                    <a:pt x="13045139" y="11679851"/>
                  </a:moveTo>
                  <a:lnTo>
                    <a:pt x="59690" y="11679851"/>
                  </a:lnTo>
                  <a:lnTo>
                    <a:pt x="59690" y="59690"/>
                  </a:lnTo>
                  <a:lnTo>
                    <a:pt x="13045139" y="59690"/>
                  </a:lnTo>
                  <a:lnTo>
                    <a:pt x="13045139" y="11679851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813238" y="2678652"/>
            <a:ext cx="2565426" cy="2298180"/>
            <a:chOff x="0" y="0"/>
            <a:chExt cx="13106099" cy="11740811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13106099" cy="11740811"/>
            </a:xfrm>
            <a:custGeom>
              <a:avLst/>
              <a:gdLst/>
              <a:ahLst/>
              <a:cxnLst/>
              <a:rect r="r" b="b" t="t" l="l"/>
              <a:pathLst>
                <a:path h="11740811" w="13106099">
                  <a:moveTo>
                    <a:pt x="0" y="0"/>
                  </a:moveTo>
                  <a:lnTo>
                    <a:pt x="0" y="11740811"/>
                  </a:lnTo>
                  <a:lnTo>
                    <a:pt x="13106099" y="11740811"/>
                  </a:lnTo>
                  <a:lnTo>
                    <a:pt x="13106099" y="0"/>
                  </a:lnTo>
                  <a:lnTo>
                    <a:pt x="0" y="0"/>
                  </a:lnTo>
                  <a:close/>
                  <a:moveTo>
                    <a:pt x="13045139" y="11679851"/>
                  </a:moveTo>
                  <a:lnTo>
                    <a:pt x="59690" y="11679851"/>
                  </a:lnTo>
                  <a:lnTo>
                    <a:pt x="59690" y="59690"/>
                  </a:lnTo>
                  <a:lnTo>
                    <a:pt x="13045139" y="59690"/>
                  </a:lnTo>
                  <a:lnTo>
                    <a:pt x="13045139" y="11679851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833007" y="5310167"/>
            <a:ext cx="2565426" cy="2298180"/>
            <a:chOff x="0" y="0"/>
            <a:chExt cx="13106099" cy="11740811"/>
          </a:xfrm>
        </p:grpSpPr>
        <p:sp>
          <p:nvSpPr>
            <p:cNvPr name="Freeform 10" id="10"/>
            <p:cNvSpPr/>
            <p:nvPr/>
          </p:nvSpPr>
          <p:spPr>
            <a:xfrm>
              <a:off x="0" y="0"/>
              <a:ext cx="13106099" cy="11740811"/>
            </a:xfrm>
            <a:custGeom>
              <a:avLst/>
              <a:gdLst/>
              <a:ahLst/>
              <a:cxnLst/>
              <a:rect r="r" b="b" t="t" l="l"/>
              <a:pathLst>
                <a:path h="11740811" w="13106099">
                  <a:moveTo>
                    <a:pt x="0" y="0"/>
                  </a:moveTo>
                  <a:lnTo>
                    <a:pt x="0" y="11740811"/>
                  </a:lnTo>
                  <a:lnTo>
                    <a:pt x="13106099" y="11740811"/>
                  </a:lnTo>
                  <a:lnTo>
                    <a:pt x="13106099" y="0"/>
                  </a:lnTo>
                  <a:lnTo>
                    <a:pt x="0" y="0"/>
                  </a:lnTo>
                  <a:close/>
                  <a:moveTo>
                    <a:pt x="13045139" y="11679851"/>
                  </a:moveTo>
                  <a:lnTo>
                    <a:pt x="59690" y="11679851"/>
                  </a:lnTo>
                  <a:lnTo>
                    <a:pt x="59690" y="59690"/>
                  </a:lnTo>
                  <a:lnTo>
                    <a:pt x="13045139" y="59690"/>
                  </a:lnTo>
                  <a:lnTo>
                    <a:pt x="13045139" y="11679851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813238" y="5310167"/>
            <a:ext cx="2565426" cy="2298180"/>
            <a:chOff x="0" y="0"/>
            <a:chExt cx="13106099" cy="11740811"/>
          </a:xfrm>
        </p:grpSpPr>
        <p:sp>
          <p:nvSpPr>
            <p:cNvPr name="Freeform 12" id="12"/>
            <p:cNvSpPr/>
            <p:nvPr/>
          </p:nvSpPr>
          <p:spPr>
            <a:xfrm>
              <a:off x="0" y="0"/>
              <a:ext cx="13106099" cy="11740811"/>
            </a:xfrm>
            <a:custGeom>
              <a:avLst/>
              <a:gdLst/>
              <a:ahLst/>
              <a:cxnLst/>
              <a:rect r="r" b="b" t="t" l="l"/>
              <a:pathLst>
                <a:path h="11740811" w="13106099">
                  <a:moveTo>
                    <a:pt x="0" y="0"/>
                  </a:moveTo>
                  <a:lnTo>
                    <a:pt x="0" y="11740811"/>
                  </a:lnTo>
                  <a:lnTo>
                    <a:pt x="13106099" y="11740811"/>
                  </a:lnTo>
                  <a:lnTo>
                    <a:pt x="13106099" y="0"/>
                  </a:lnTo>
                  <a:lnTo>
                    <a:pt x="0" y="0"/>
                  </a:lnTo>
                  <a:close/>
                  <a:moveTo>
                    <a:pt x="13045139" y="11679851"/>
                  </a:moveTo>
                  <a:lnTo>
                    <a:pt x="59690" y="11679851"/>
                  </a:lnTo>
                  <a:lnTo>
                    <a:pt x="59690" y="59690"/>
                  </a:lnTo>
                  <a:lnTo>
                    <a:pt x="13045139" y="59690"/>
                  </a:lnTo>
                  <a:lnTo>
                    <a:pt x="13045139" y="11679851"/>
                  </a:lnTo>
                  <a:close/>
                </a:path>
              </a:pathLst>
            </a:custGeom>
            <a:solidFill>
              <a:srgbClr val="141414"/>
            </a:solidFill>
          </p:spPr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1667701" y="3219322"/>
            <a:ext cx="896038" cy="1216841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1497866" y="5870611"/>
            <a:ext cx="1235708" cy="1177292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676694" y="3219322"/>
            <a:ext cx="838514" cy="1216841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668780" y="5890386"/>
            <a:ext cx="854342" cy="1137744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156021" y="1028700"/>
            <a:ext cx="7628161" cy="1084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DD211D"/>
                </a:solidFill>
                <a:latin typeface="Poppins Bold Bold"/>
              </a:rPr>
              <a:t>To </a:t>
            </a:r>
            <a:r>
              <a:rPr lang="en-US" sz="7200">
                <a:solidFill>
                  <a:srgbClr val="DD211D"/>
                </a:solidFill>
                <a:latin typeface="Poppins Bold Bold"/>
              </a:rPr>
              <a:t>solve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773722" y="8826675"/>
            <a:ext cx="485578" cy="431625"/>
            <a:chOff x="0" y="0"/>
            <a:chExt cx="647437" cy="575500"/>
          </a:xfrm>
        </p:grpSpPr>
        <p:sp>
          <p:nvSpPr>
            <p:cNvPr name="AutoShape 19" id="19"/>
            <p:cNvSpPr/>
            <p:nvPr/>
          </p:nvSpPr>
          <p:spPr>
            <a:xfrm rot="0">
              <a:off x="0" y="0"/>
              <a:ext cx="647437" cy="575500"/>
            </a:xfrm>
            <a:prstGeom prst="rect">
              <a:avLst/>
            </a:prstGeom>
            <a:solidFill>
              <a:srgbClr val="DD211D"/>
            </a:solid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0" y="171992"/>
              <a:ext cx="517352" cy="231517"/>
              <a:chOff x="0" y="0"/>
              <a:chExt cx="959235" cy="429260"/>
            </a:xfrm>
          </p:grpSpPr>
          <p:sp>
            <p:nvSpPr>
              <p:cNvPr name="Freeform 21" id="21"/>
              <p:cNvSpPr/>
              <p:nvPr/>
            </p:nvSpPr>
            <p:spPr>
              <a:xfrm>
                <a:off x="0" y="-5080"/>
                <a:ext cx="959235" cy="434340"/>
              </a:xfrm>
              <a:custGeom>
                <a:avLst/>
                <a:gdLst/>
                <a:ahLst/>
                <a:cxnLst/>
                <a:rect r="r" b="b" t="t" l="l"/>
                <a:pathLst>
                  <a:path h="434340" w="959235">
                    <a:moveTo>
                      <a:pt x="941455" y="187960"/>
                    </a:moveTo>
                    <a:lnTo>
                      <a:pt x="679835" y="11430"/>
                    </a:lnTo>
                    <a:cubicBezTo>
                      <a:pt x="662055" y="0"/>
                      <a:pt x="639195" y="3810"/>
                      <a:pt x="626495" y="21590"/>
                    </a:cubicBezTo>
                    <a:cubicBezTo>
                      <a:pt x="615065" y="39370"/>
                      <a:pt x="618875" y="62230"/>
                      <a:pt x="636655" y="74930"/>
                    </a:cubicBezTo>
                    <a:lnTo>
                      <a:pt x="795405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795405" y="257810"/>
                    </a:lnTo>
                    <a:lnTo>
                      <a:pt x="636655" y="364490"/>
                    </a:lnTo>
                    <a:cubicBezTo>
                      <a:pt x="618875" y="375920"/>
                      <a:pt x="615065" y="400050"/>
                      <a:pt x="626495" y="417830"/>
                    </a:cubicBezTo>
                    <a:cubicBezTo>
                      <a:pt x="634115" y="429260"/>
                      <a:pt x="645545" y="434340"/>
                      <a:pt x="658245" y="434340"/>
                    </a:cubicBezTo>
                    <a:cubicBezTo>
                      <a:pt x="665865" y="434340"/>
                      <a:pt x="673485" y="431800"/>
                      <a:pt x="679835" y="427990"/>
                    </a:cubicBezTo>
                    <a:lnTo>
                      <a:pt x="942725" y="251460"/>
                    </a:lnTo>
                    <a:cubicBezTo>
                      <a:pt x="952885" y="243840"/>
                      <a:pt x="959235" y="232410"/>
                      <a:pt x="959235" y="219710"/>
                    </a:cubicBezTo>
                    <a:cubicBezTo>
                      <a:pt x="959235" y="207010"/>
                      <a:pt x="952885" y="195580"/>
                      <a:pt x="941455" y="187960"/>
                    </a:cubicBezTo>
                    <a:close/>
                  </a:path>
                </a:pathLst>
              </a:custGeom>
              <a:solidFill>
                <a:srgbClr val="FDFCFC"/>
              </a:solidFill>
            </p:spPr>
          </p:sp>
        </p:grpSp>
      </p:grpSp>
      <p:sp>
        <p:nvSpPr>
          <p:cNvPr name="TextBox 22" id="22"/>
          <p:cNvSpPr txBox="true"/>
          <p:nvPr/>
        </p:nvSpPr>
        <p:spPr>
          <a:xfrm rot="0">
            <a:off x="1369535" y="3109932"/>
            <a:ext cx="863821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85191" indent="-442595" lvl="1">
              <a:lnSpc>
                <a:spcPts val="492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Poppins Light"/>
              </a:rPr>
              <a:t>number of facilities providing treatment for clubfoot has to be increased</a:t>
            </a:r>
          </a:p>
          <a:p>
            <a:pPr algn="just" marL="885191" indent="-442595" lvl="1">
              <a:lnSpc>
                <a:spcPts val="492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Poppins Light"/>
              </a:rPr>
              <a:t>Proper caring during pregnancy</a:t>
            </a:r>
          </a:p>
          <a:p>
            <a:pPr algn="just" marL="885191" indent="-442595" lvl="1">
              <a:lnSpc>
                <a:spcPts val="492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Poppins Light"/>
              </a:rPr>
              <a:t>Making people aware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72" t="436" r="272" b="43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>
            <a:off x="0" y="0"/>
            <a:ext cx="1028700" cy="10287000"/>
          </a:xfrm>
          <a:prstGeom prst="rect">
            <a:avLst/>
          </a:prstGeom>
          <a:solidFill>
            <a:srgbClr val="FDFCFC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401566" y="0"/>
            <a:ext cx="142711" cy="10287000"/>
            <a:chOff x="0" y="0"/>
            <a:chExt cx="190282" cy="13716000"/>
          </a:xfrm>
        </p:grpSpPr>
        <p:sp>
          <p:nvSpPr>
            <p:cNvPr name="AutoShape 5" id="5"/>
            <p:cNvSpPr/>
            <p:nvPr/>
          </p:nvSpPr>
          <p:spPr>
            <a:xfrm rot="0">
              <a:off x="88791" y="0"/>
              <a:ext cx="12700" cy="13716000"/>
            </a:xfrm>
            <a:prstGeom prst="rect">
              <a:avLst/>
            </a:prstGeom>
            <a:solidFill>
              <a:srgbClr val="141414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5820971"/>
              <a:ext cx="190282" cy="2074059"/>
            </a:xfrm>
            <a:prstGeom prst="rect">
              <a:avLst/>
            </a:prstGeom>
            <a:solidFill>
              <a:srgbClr val="DD211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495850" y="4372309"/>
            <a:ext cx="11296300" cy="145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8"/>
              </a:lnSpc>
            </a:pPr>
            <a:r>
              <a:rPr lang="en-US" sz="9052" spc="90">
                <a:solidFill>
                  <a:srgbClr val="FFFFFF"/>
                </a:solidFill>
                <a:latin typeface="Poppins Medium"/>
              </a:rPr>
              <a:t>Thank You :3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DAFXqMaAjCU</dc:identifier>
  <dcterms:modified xsi:type="dcterms:W3CDTF">2011-08-01T06:04:30Z</dcterms:modified>
  <cp:revision>1</cp:revision>
  <dc:title>White and Red Minimalist Modern Professional Genome Editing Medical Presentation</dc:title>
</cp:coreProperties>
</file>